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0" r:id="rId2"/>
    <p:sldId id="257" r:id="rId3"/>
    <p:sldId id="258" r:id="rId4"/>
    <p:sldId id="272" r:id="rId5"/>
    <p:sldId id="260" r:id="rId6"/>
    <p:sldId id="269" r:id="rId7"/>
    <p:sldId id="262" r:id="rId8"/>
    <p:sldId id="263" r:id="rId9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60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DB58C3-5F19-20C2-5BA7-3C663B30C471}"/>
              </a:ext>
            </a:extLst>
          </p:cNvPr>
          <p:cNvSpPr/>
          <p:nvPr/>
        </p:nvSpPr>
        <p:spPr>
          <a:xfrm>
            <a:off x="0" y="1219200"/>
            <a:ext cx="7556500" cy="9469437"/>
          </a:xfrm>
          <a:prstGeom prst="rect">
            <a:avLst/>
          </a:prstGeom>
          <a:gradFill flip="none" rotWithShape="1">
            <a:gsLst>
              <a:gs pos="55000">
                <a:srgbClr val="F4FDFF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9CA469-D3B1-5849-A259-8FFA994C78C1}"/>
              </a:ext>
            </a:extLst>
          </p:cNvPr>
          <p:cNvSpPr/>
          <p:nvPr/>
        </p:nvSpPr>
        <p:spPr>
          <a:xfrm>
            <a:off x="0" y="0"/>
            <a:ext cx="7556500" cy="12192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AFD185-B35A-3A41-A51D-79FCB31D95AA}"/>
              </a:ext>
            </a:extLst>
          </p:cNvPr>
          <p:cNvSpPr txBox="1"/>
          <p:nvPr/>
        </p:nvSpPr>
        <p:spPr>
          <a:xfrm>
            <a:off x="457200" y="431800"/>
            <a:ext cx="3810000" cy="406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2000" b="1">
                <a:solidFill>
                  <a:srgbClr val="FFFFFF"/>
                </a:solidFill>
                <a:latin typeface="Arial"/>
                <a:cs typeface="Arial"/>
              </a:rPr>
              <a:t>睿视 </a:t>
            </a:r>
            <a:r>
              <a:rPr lang="en-US" altLang="zh-CN" sz="2000" b="1">
                <a:solidFill>
                  <a:srgbClr val="FFFFFF"/>
                </a:solidFill>
                <a:latin typeface="Arial"/>
                <a:cs typeface="Arial"/>
              </a:rPr>
              <a:t>Rvision</a:t>
            </a:r>
            <a:endParaRPr lang="zh-CN" altLang="en-US" sz="20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8CF013-2CC2-CA4D-9F71-DC014EDD933B}"/>
              </a:ext>
            </a:extLst>
          </p:cNvPr>
          <p:cNvSpPr/>
          <p:nvPr/>
        </p:nvSpPr>
        <p:spPr>
          <a:xfrm>
            <a:off x="0" y="1219200"/>
            <a:ext cx="7556500" cy="635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A6C0EA-CD73-AA47-94CF-AB9D35C9A55D}"/>
              </a:ext>
            </a:extLst>
          </p:cNvPr>
          <p:cNvSpPr txBox="1"/>
          <p:nvPr/>
        </p:nvSpPr>
        <p:spPr>
          <a:xfrm>
            <a:off x="457200" y="4191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b="1">
                <a:solidFill>
                  <a:srgbClr val="1A7AB8"/>
                </a:solidFill>
                <a:latin typeface="Arial"/>
                <a:cs typeface="Arial"/>
              </a:rPr>
              <a:t>外夹式超声波流量计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930E38B-3F1C-0243-A695-24A795978416}"/>
              </a:ext>
            </a:extLst>
          </p:cNvPr>
          <p:cNvSpPr txBox="1"/>
          <p:nvPr/>
        </p:nvSpPr>
        <p:spPr>
          <a:xfrm>
            <a:off x="419100" y="4572000"/>
            <a:ext cx="5461000" cy="1219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CN" sz="6000" b="1">
                <a:solidFill>
                  <a:srgbClr val="18232F"/>
                </a:solidFill>
                <a:latin typeface="Arial"/>
                <a:cs typeface="Arial"/>
              </a:rPr>
              <a:t>RUF-100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FA2F5C-0055-5C4A-B52B-97F1EB2B0A34}"/>
              </a:ext>
            </a:extLst>
          </p:cNvPr>
          <p:cNvSpPr/>
          <p:nvPr/>
        </p:nvSpPr>
        <p:spPr>
          <a:xfrm>
            <a:off x="457200" y="5969000"/>
            <a:ext cx="3175000" cy="5842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zh-CN" altLang="en-US" sz="2000" b="1">
                <a:solidFill>
                  <a:srgbClr val="FFFFFF"/>
                </a:solidFill>
                <a:latin typeface="Arial"/>
                <a:cs typeface="Arial"/>
              </a:rPr>
              <a:t>无需切管  即装即测</a:t>
            </a:r>
          </a:p>
        </p:txBody>
      </p:sp>
      <p:pic>
        <p:nvPicPr>
          <p:cNvPr id="7" name="Image 0" descr="/Users/jasber/Downloads/夹钳式超声波流量计/outputs/shot-explorer/ruishi-ruf100-cover-industrial/01-front-cover-industrial-cold-light.png"/>
          <p:cNvPicPr>
            <a:picLocks noChangeAspect="1"/>
          </p:cNvPicPr>
          <p:nvPr/>
        </p:nvPicPr>
        <p:blipFill>
          <a:blip r:embed="rId3"/>
          <a:srcRect l="27804" t="10349" r="25097" b="16107"/>
          <a:stretch>
            <a:fillRect/>
          </a:stretch>
        </p:blipFill>
        <p:spPr>
          <a:xfrm>
            <a:off x="4089400" y="2726662"/>
            <a:ext cx="2843797" cy="627741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4AC0CB8-4268-B0BB-7207-B54444C01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787" y="966537"/>
            <a:ext cx="1579813" cy="157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70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A4D0C793-61A5-7646-A163-E42772A6268F}"/>
              </a:ext>
            </a:extLst>
          </p:cNvPr>
          <p:cNvSpPr/>
          <p:nvPr/>
        </p:nvSpPr>
        <p:spPr>
          <a:xfrm>
            <a:off x="0" y="0"/>
            <a:ext cx="7556500" cy="9144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DB0336F-B1F8-1541-854A-E4F27ABF03C6}"/>
              </a:ext>
            </a:extLst>
          </p:cNvPr>
          <p:cNvSpPr/>
          <p:nvPr/>
        </p:nvSpPr>
        <p:spPr>
          <a:xfrm>
            <a:off x="0" y="914400"/>
            <a:ext cx="75565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FA56293-7057-0C45-9430-9AF0D5F06756}"/>
              </a:ext>
            </a:extLst>
          </p:cNvPr>
          <p:cNvSpPr txBox="1"/>
          <p:nvPr/>
        </p:nvSpPr>
        <p:spPr>
          <a:xfrm>
            <a:off x="457200" y="0"/>
            <a:ext cx="5080000" cy="91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2800" b="1">
                <a:solidFill>
                  <a:srgbClr val="FFFFFF"/>
                </a:solidFill>
                <a:latin typeface="Arial"/>
                <a:cs typeface="Arial"/>
              </a:rPr>
              <a:t>产品简介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F8DC78F-A898-FC49-977F-4E3A86D0C24B}"/>
              </a:ext>
            </a:extLst>
          </p:cNvPr>
          <p:cNvSpPr txBox="1"/>
          <p:nvPr/>
        </p:nvSpPr>
        <p:spPr>
          <a:xfrm>
            <a:off x="457200" y="1031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000">
                <a:solidFill>
                  <a:srgbClr val="98A4AE"/>
                </a:solidFill>
                <a:latin typeface="Arial"/>
                <a:cs typeface="Arial"/>
              </a:rPr>
              <a:t>Rvision RUF-100  </a:t>
            </a:r>
            <a:r>
              <a:rPr lang="zh-CN" altLang="en-US" sz="1000">
                <a:solidFill>
                  <a:srgbClr val="98A4AE"/>
                </a:solidFill>
                <a:latin typeface="Arial"/>
                <a:cs typeface="Arial"/>
              </a:rPr>
              <a:t>外夹式超声波流量计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0DD43E8-8207-974B-A263-56CEDF8C9855}"/>
              </a:ext>
            </a:extLst>
          </p:cNvPr>
          <p:cNvSpPr txBox="1"/>
          <p:nvPr/>
        </p:nvSpPr>
        <p:spPr>
          <a:xfrm>
            <a:off x="457200" y="1219200"/>
            <a:ext cx="6642100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44525E"/>
                </a:solidFill>
                <a:latin typeface="Arial"/>
                <a:cs typeface="Arial"/>
              </a:rPr>
              <a:t>RUF-100 </a:t>
            </a:r>
            <a:r>
              <a:rPr lang="zh-CN" altLang="en-US" sz="1400">
                <a:solidFill>
                  <a:srgbClr val="44525E"/>
                </a:solidFill>
                <a:latin typeface="Arial"/>
                <a:cs typeface="Arial"/>
              </a:rPr>
              <a:t>用于既有管路的液体流量监控，外夹式安装，无需切开管路或改变原有管线，即可实现快速部署。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93516FA-580E-ED4A-98D2-BE95B26B65B6}"/>
              </a:ext>
            </a:extLst>
          </p:cNvPr>
          <p:cNvSpPr/>
          <p:nvPr/>
        </p:nvSpPr>
        <p:spPr>
          <a:xfrm>
            <a:off x="457200" y="2006600"/>
            <a:ext cx="3238500" cy="1778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58810E-0588-944C-A2FC-492F1CA277CD}"/>
              </a:ext>
            </a:extLst>
          </p:cNvPr>
          <p:cNvSpPr/>
          <p:nvPr/>
        </p:nvSpPr>
        <p:spPr>
          <a:xfrm>
            <a:off x="457200" y="2006600"/>
            <a:ext cx="3238500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E1EFE98-E63A-2F48-81CB-8AB2D1E4EAA9}"/>
              </a:ext>
            </a:extLst>
          </p:cNvPr>
          <p:cNvSpPr/>
          <p:nvPr/>
        </p:nvSpPr>
        <p:spPr>
          <a:xfrm>
            <a:off x="660400" y="2286000"/>
            <a:ext cx="381000" cy="3810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500" b="1">
                <a:solidFill>
                  <a:srgbClr val="FFFFFF"/>
                </a:solidFill>
              </a:rPr>
              <a:t>1</a:t>
            </a:r>
            <a:endParaRPr lang="zh-CN" altLang="en-US" sz="1500" b="1">
              <a:solidFill>
                <a:srgbClr val="FFFFFF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127553F-D66F-4048-80AF-4EF963753AE4}"/>
              </a:ext>
            </a:extLst>
          </p:cNvPr>
          <p:cNvSpPr txBox="1"/>
          <p:nvPr/>
        </p:nvSpPr>
        <p:spPr>
          <a:xfrm>
            <a:off x="1168400" y="2235200"/>
            <a:ext cx="2349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0D3A5C"/>
                </a:solidFill>
                <a:latin typeface="Arial"/>
                <a:cs typeface="Arial"/>
              </a:rPr>
              <a:t>外夹式安装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DA53501-51F3-6646-9667-8A848B854B2C}"/>
              </a:ext>
            </a:extLst>
          </p:cNvPr>
          <p:cNvSpPr txBox="1"/>
          <p:nvPr/>
        </p:nvSpPr>
        <p:spPr>
          <a:xfrm>
            <a:off x="1168400" y="2565400"/>
            <a:ext cx="23495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仅需螺丝刀即可完成安装，无需修改管线、无需停机。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E1794CF-49B5-D446-939A-010FF581F5FF}"/>
              </a:ext>
            </a:extLst>
          </p:cNvPr>
          <p:cNvSpPr/>
          <p:nvPr/>
        </p:nvSpPr>
        <p:spPr>
          <a:xfrm>
            <a:off x="3860800" y="2006600"/>
            <a:ext cx="3238500" cy="1778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4D2063-C58B-FE49-ACA5-49707E27E4F7}"/>
              </a:ext>
            </a:extLst>
          </p:cNvPr>
          <p:cNvSpPr/>
          <p:nvPr/>
        </p:nvSpPr>
        <p:spPr>
          <a:xfrm>
            <a:off x="3860800" y="2006600"/>
            <a:ext cx="3238500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5999B67-D2B8-8F43-8233-6E3BE20C5DBA}"/>
              </a:ext>
            </a:extLst>
          </p:cNvPr>
          <p:cNvSpPr/>
          <p:nvPr/>
        </p:nvSpPr>
        <p:spPr>
          <a:xfrm>
            <a:off x="4064000" y="2286000"/>
            <a:ext cx="381000" cy="3810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500" b="1">
                <a:solidFill>
                  <a:srgbClr val="FFFFFF"/>
                </a:solidFill>
              </a:rPr>
              <a:t>2</a:t>
            </a:r>
            <a:endParaRPr lang="zh-CN" altLang="en-US" sz="1500" b="1">
              <a:solidFill>
                <a:srgbClr val="FFFFFF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8691784-E92F-264B-8A9A-82866F863313}"/>
              </a:ext>
            </a:extLst>
          </p:cNvPr>
          <p:cNvSpPr txBox="1"/>
          <p:nvPr/>
        </p:nvSpPr>
        <p:spPr>
          <a:xfrm>
            <a:off x="4572000" y="2235200"/>
            <a:ext cx="2349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0D3A5C"/>
                </a:solidFill>
                <a:latin typeface="Arial"/>
                <a:cs typeface="Arial"/>
              </a:rPr>
              <a:t>实时监控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E83A8DE-CDCE-0142-8811-F043BD6F07F5}"/>
              </a:ext>
            </a:extLst>
          </p:cNvPr>
          <p:cNvSpPr txBox="1"/>
          <p:nvPr/>
        </p:nvSpPr>
        <p:spPr>
          <a:xfrm>
            <a:off x="4572000" y="2565400"/>
            <a:ext cx="23495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200">
                <a:solidFill>
                  <a:srgbClr val="44525E"/>
                </a:solidFill>
                <a:latin typeface="Arial"/>
                <a:cs typeface="Arial"/>
              </a:rPr>
              <a:t>OLED </a:t>
            </a:r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显示瞬时流量与累计流量，监控数据一目了然。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AC94B98-729F-4046-A88A-FEF6F76E17C1}"/>
              </a:ext>
            </a:extLst>
          </p:cNvPr>
          <p:cNvSpPr/>
          <p:nvPr/>
        </p:nvSpPr>
        <p:spPr>
          <a:xfrm>
            <a:off x="457200" y="4038600"/>
            <a:ext cx="3238500" cy="1778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07E9153-284C-5E4F-909F-3B2AE9B5553F}"/>
              </a:ext>
            </a:extLst>
          </p:cNvPr>
          <p:cNvSpPr/>
          <p:nvPr/>
        </p:nvSpPr>
        <p:spPr>
          <a:xfrm>
            <a:off x="457200" y="4038600"/>
            <a:ext cx="3238500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2884AAC-C56A-3341-B813-C037F64AB10F}"/>
              </a:ext>
            </a:extLst>
          </p:cNvPr>
          <p:cNvSpPr/>
          <p:nvPr/>
        </p:nvSpPr>
        <p:spPr>
          <a:xfrm>
            <a:off x="660400" y="4318000"/>
            <a:ext cx="381000" cy="3810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500" b="1">
                <a:solidFill>
                  <a:srgbClr val="FFFFFF"/>
                </a:solidFill>
              </a:rPr>
              <a:t>3</a:t>
            </a:r>
            <a:endParaRPr lang="zh-CN" altLang="en-US" sz="1500" b="1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8F160D5-432E-DF45-9C97-1D2AC62F36CC}"/>
              </a:ext>
            </a:extLst>
          </p:cNvPr>
          <p:cNvSpPr txBox="1"/>
          <p:nvPr/>
        </p:nvSpPr>
        <p:spPr>
          <a:xfrm>
            <a:off x="1168400" y="4267200"/>
            <a:ext cx="2349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0D3A5C"/>
                </a:solidFill>
                <a:latin typeface="Arial"/>
                <a:cs typeface="Arial"/>
              </a:rPr>
              <a:t>多种输出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BADC6A5-E44B-9847-9058-4DC5F03A2281}"/>
              </a:ext>
            </a:extLst>
          </p:cNvPr>
          <p:cNvSpPr txBox="1"/>
          <p:nvPr/>
        </p:nvSpPr>
        <p:spPr>
          <a:xfrm>
            <a:off x="1168400" y="4597400"/>
            <a:ext cx="23495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200">
                <a:solidFill>
                  <a:srgbClr val="44525E"/>
                </a:solidFill>
                <a:latin typeface="Arial"/>
                <a:cs typeface="Arial"/>
              </a:rPr>
              <a:t>NPN/PNP</a:t>
            </a:r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、</a:t>
            </a:r>
            <a:r>
              <a:rPr lang="en-US" altLang="zh-CN" sz="1200">
                <a:solidFill>
                  <a:srgbClr val="44525E"/>
                </a:solidFill>
                <a:latin typeface="Arial"/>
                <a:cs typeface="Arial"/>
              </a:rPr>
              <a:t>4-20mA</a:t>
            </a:r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、报警输出，支持 </a:t>
            </a:r>
            <a:r>
              <a:rPr lang="en-US" altLang="zh-CN" sz="1200">
                <a:solidFill>
                  <a:srgbClr val="44525E"/>
                </a:solidFill>
                <a:latin typeface="Arial"/>
                <a:cs typeface="Arial"/>
              </a:rPr>
              <a:t>MODBUS </a:t>
            </a:r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通讯协议。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52BED08-9C83-DB40-A573-3459421DAC44}"/>
              </a:ext>
            </a:extLst>
          </p:cNvPr>
          <p:cNvSpPr/>
          <p:nvPr/>
        </p:nvSpPr>
        <p:spPr>
          <a:xfrm>
            <a:off x="3860800" y="4038600"/>
            <a:ext cx="3238500" cy="1778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B64CBB0-DCD5-D549-A54F-67DCDDA30665}"/>
              </a:ext>
            </a:extLst>
          </p:cNvPr>
          <p:cNvSpPr/>
          <p:nvPr/>
        </p:nvSpPr>
        <p:spPr>
          <a:xfrm>
            <a:off x="3860800" y="4038600"/>
            <a:ext cx="3238500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27F0858-3B23-E640-A0D7-BAC55F19F538}"/>
              </a:ext>
            </a:extLst>
          </p:cNvPr>
          <p:cNvSpPr/>
          <p:nvPr/>
        </p:nvSpPr>
        <p:spPr>
          <a:xfrm>
            <a:off x="4064000" y="4318000"/>
            <a:ext cx="381000" cy="3810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500" b="1">
                <a:solidFill>
                  <a:srgbClr val="FFFFFF"/>
                </a:solidFill>
              </a:rPr>
              <a:t>4</a:t>
            </a:r>
            <a:endParaRPr lang="zh-CN" altLang="en-US" sz="1500" b="1">
              <a:solidFill>
                <a:srgbClr val="FFFFFF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8101F73-1372-BA48-B7C4-90ED885BDAF7}"/>
              </a:ext>
            </a:extLst>
          </p:cNvPr>
          <p:cNvSpPr txBox="1"/>
          <p:nvPr/>
        </p:nvSpPr>
        <p:spPr>
          <a:xfrm>
            <a:off x="4572000" y="4267200"/>
            <a:ext cx="23495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0D3A5C"/>
                </a:solidFill>
                <a:latin typeface="Arial"/>
                <a:cs typeface="Arial"/>
              </a:rPr>
              <a:t>工业防护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190D779-EBA4-4D4A-9610-B2D007128DD8}"/>
              </a:ext>
            </a:extLst>
          </p:cNvPr>
          <p:cNvSpPr txBox="1"/>
          <p:nvPr/>
        </p:nvSpPr>
        <p:spPr>
          <a:xfrm>
            <a:off x="4572000" y="4597400"/>
            <a:ext cx="2349500" cy="533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200">
                <a:solidFill>
                  <a:srgbClr val="44525E"/>
                </a:solidFill>
                <a:latin typeface="Arial"/>
                <a:cs typeface="Arial"/>
              </a:rPr>
              <a:t>IP65 </a:t>
            </a:r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外壳防护，适用于车间、化工等严苛工业环境。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F5D64F0-5C10-C647-B2D9-51EB3E4F8747}"/>
              </a:ext>
            </a:extLst>
          </p:cNvPr>
          <p:cNvSpPr txBox="1"/>
          <p:nvPr/>
        </p:nvSpPr>
        <p:spPr>
          <a:xfrm>
            <a:off x="457200" y="61722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b="1">
                <a:solidFill>
                  <a:srgbClr val="18232F"/>
                </a:solidFill>
                <a:latin typeface="Arial"/>
                <a:cs typeface="Arial"/>
              </a:rPr>
              <a:t>适用场景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D761D61-6B56-E846-ACBD-9FE169B11F6B}"/>
              </a:ext>
            </a:extLst>
          </p:cNvPr>
          <p:cNvSpPr/>
          <p:nvPr/>
        </p:nvSpPr>
        <p:spPr>
          <a:xfrm>
            <a:off x="457200" y="6553200"/>
            <a:ext cx="6096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1C3B48D-E305-E04D-9075-FE698F564E01}"/>
              </a:ext>
            </a:extLst>
          </p:cNvPr>
          <p:cNvSpPr/>
          <p:nvPr/>
        </p:nvSpPr>
        <p:spPr>
          <a:xfrm>
            <a:off x="457200" y="6921500"/>
            <a:ext cx="2103966" cy="19050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BFE0503-A782-8647-B192-0257AE531ACE}"/>
              </a:ext>
            </a:extLst>
          </p:cNvPr>
          <p:cNvSpPr txBox="1"/>
          <p:nvPr/>
        </p:nvSpPr>
        <p:spPr>
          <a:xfrm>
            <a:off x="635000" y="7124700"/>
            <a:ext cx="1748366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500" b="1">
                <a:solidFill>
                  <a:srgbClr val="FFFFFF"/>
                </a:solidFill>
                <a:latin typeface="Arial"/>
                <a:cs typeface="Arial"/>
              </a:rPr>
              <a:t>设备冷却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DADA817-7A25-2349-A04E-F92D01F26F46}"/>
              </a:ext>
            </a:extLst>
          </p:cNvPr>
          <p:cNvSpPr/>
          <p:nvPr/>
        </p:nvSpPr>
        <p:spPr>
          <a:xfrm>
            <a:off x="635000" y="7480300"/>
            <a:ext cx="330200" cy="381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7417CF6-626D-5942-90D9-4D41A670B4A2}"/>
              </a:ext>
            </a:extLst>
          </p:cNvPr>
          <p:cNvSpPr txBox="1"/>
          <p:nvPr/>
        </p:nvSpPr>
        <p:spPr>
          <a:xfrm>
            <a:off x="635000" y="7607300"/>
            <a:ext cx="1748366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C7D6E3"/>
                </a:solidFill>
                <a:latin typeface="Arial"/>
                <a:cs typeface="Arial"/>
              </a:rPr>
              <a:t>设备冷却水与循环水流量监控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8B173C5-617B-9947-B214-6537468930A5}"/>
              </a:ext>
            </a:extLst>
          </p:cNvPr>
          <p:cNvSpPr/>
          <p:nvPr/>
        </p:nvSpPr>
        <p:spPr>
          <a:xfrm>
            <a:off x="2726266" y="6921500"/>
            <a:ext cx="2103966" cy="19050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776EE40-FF2C-204A-A35A-F2179B006DD7}"/>
              </a:ext>
            </a:extLst>
          </p:cNvPr>
          <p:cNvSpPr txBox="1"/>
          <p:nvPr/>
        </p:nvSpPr>
        <p:spPr>
          <a:xfrm>
            <a:off x="2904066" y="7124700"/>
            <a:ext cx="1748366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500" b="1">
                <a:solidFill>
                  <a:srgbClr val="FFFFFF"/>
                </a:solidFill>
                <a:latin typeface="Arial"/>
                <a:cs typeface="Arial"/>
              </a:rPr>
              <a:t>流体供应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4D12F62-4489-A840-8967-FFD590C4BDAF}"/>
              </a:ext>
            </a:extLst>
          </p:cNvPr>
          <p:cNvSpPr/>
          <p:nvPr/>
        </p:nvSpPr>
        <p:spPr>
          <a:xfrm>
            <a:off x="2904066" y="7480300"/>
            <a:ext cx="330200" cy="381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2D79152-8F89-0844-A398-9C8890D4F44C}"/>
              </a:ext>
            </a:extLst>
          </p:cNvPr>
          <p:cNvSpPr txBox="1"/>
          <p:nvPr/>
        </p:nvSpPr>
        <p:spPr>
          <a:xfrm>
            <a:off x="2904066" y="7607300"/>
            <a:ext cx="1748366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C7D6E3"/>
                </a:solidFill>
                <a:latin typeface="Arial"/>
                <a:cs typeface="Arial"/>
              </a:rPr>
              <a:t>油类与化学液体流量确认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C831D43-2922-4449-B719-4AD43321D585}"/>
              </a:ext>
            </a:extLst>
          </p:cNvPr>
          <p:cNvSpPr/>
          <p:nvPr/>
        </p:nvSpPr>
        <p:spPr>
          <a:xfrm>
            <a:off x="4995333" y="6921500"/>
            <a:ext cx="2103966" cy="19050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F8F5652-F003-0E48-BFE8-B550668B8FF6}"/>
              </a:ext>
            </a:extLst>
          </p:cNvPr>
          <p:cNvSpPr txBox="1"/>
          <p:nvPr/>
        </p:nvSpPr>
        <p:spPr>
          <a:xfrm>
            <a:off x="5173133" y="7124700"/>
            <a:ext cx="1748366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500" b="1">
                <a:solidFill>
                  <a:srgbClr val="FFFFFF"/>
                </a:solidFill>
                <a:latin typeface="Arial"/>
                <a:cs typeface="Arial"/>
              </a:rPr>
              <a:t>管路加装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D2E8F0F-2BA4-DE49-BA7F-B7F72A9E5F8B}"/>
              </a:ext>
            </a:extLst>
          </p:cNvPr>
          <p:cNvSpPr/>
          <p:nvPr/>
        </p:nvSpPr>
        <p:spPr>
          <a:xfrm>
            <a:off x="5173133" y="7480300"/>
            <a:ext cx="330200" cy="381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BA032F1-8ED8-3447-8D2C-0B17BC74AF81}"/>
              </a:ext>
            </a:extLst>
          </p:cNvPr>
          <p:cNvSpPr txBox="1"/>
          <p:nvPr/>
        </p:nvSpPr>
        <p:spPr>
          <a:xfrm>
            <a:off x="5173133" y="7607300"/>
            <a:ext cx="1748366" cy="609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C7D6E3"/>
                </a:solidFill>
                <a:latin typeface="Arial"/>
                <a:cs typeface="Arial"/>
              </a:rPr>
              <a:t>既有设备管路加装流量监测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F85CD04-B799-9841-9D99-BFC0AF06C1B7}"/>
              </a:ext>
            </a:extLst>
          </p:cNvPr>
          <p:cNvSpPr txBox="1"/>
          <p:nvPr/>
        </p:nvSpPr>
        <p:spPr>
          <a:xfrm>
            <a:off x="457200" y="9042400"/>
            <a:ext cx="3810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b="1">
                <a:solidFill>
                  <a:srgbClr val="18232F"/>
                </a:solidFill>
                <a:latin typeface="Arial"/>
                <a:cs typeface="Arial"/>
              </a:rPr>
              <a:t>核心性能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4834396-6E95-1148-90B7-B6DA7C698955}"/>
              </a:ext>
            </a:extLst>
          </p:cNvPr>
          <p:cNvSpPr/>
          <p:nvPr/>
        </p:nvSpPr>
        <p:spPr>
          <a:xfrm>
            <a:off x="457200" y="9423400"/>
            <a:ext cx="6096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7B687FB1-804E-1740-A523-9B59B4EE7F74}"/>
              </a:ext>
            </a:extLst>
          </p:cNvPr>
          <p:cNvSpPr/>
          <p:nvPr/>
        </p:nvSpPr>
        <p:spPr>
          <a:xfrm>
            <a:off x="457200" y="9601200"/>
            <a:ext cx="2120900" cy="5588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3EDBD29-9E4C-7A47-BC61-17BC2916D487}"/>
              </a:ext>
            </a:extLst>
          </p:cNvPr>
          <p:cNvSpPr/>
          <p:nvPr/>
        </p:nvSpPr>
        <p:spPr>
          <a:xfrm>
            <a:off x="457200" y="9601200"/>
            <a:ext cx="76200" cy="558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FD3F56E-B72D-3142-8DD8-C717A52A203B}"/>
              </a:ext>
            </a:extLst>
          </p:cNvPr>
          <p:cNvSpPr txBox="1"/>
          <p:nvPr/>
        </p:nvSpPr>
        <p:spPr>
          <a:xfrm>
            <a:off x="685800" y="9664700"/>
            <a:ext cx="17907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400" b="1">
                <a:solidFill>
                  <a:srgbClr val="0D3A5C"/>
                </a:solidFill>
                <a:latin typeface="Arial"/>
                <a:cs typeface="Arial"/>
              </a:rPr>
              <a:t>精度高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33A80E6-2691-7247-ACD8-2293DCE62A9C}"/>
              </a:ext>
            </a:extLst>
          </p:cNvPr>
          <p:cNvSpPr txBox="1"/>
          <p:nvPr/>
        </p:nvSpPr>
        <p:spPr>
          <a:xfrm>
            <a:off x="685800" y="9906000"/>
            <a:ext cx="17907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重复精度 </a:t>
            </a:r>
            <a:r>
              <a:rPr lang="en-US" altLang="zh-CN" sz="1200">
                <a:solidFill>
                  <a:srgbClr val="44525E"/>
                </a:solidFill>
                <a:latin typeface="Arial"/>
                <a:cs typeface="Arial"/>
              </a:rPr>
              <a:t>1% FS</a:t>
            </a:r>
            <a:endParaRPr lang="zh-CN" altLang="en-US" sz="1200">
              <a:solidFill>
                <a:srgbClr val="44525E"/>
              </a:solidFill>
              <a:latin typeface="Arial"/>
              <a:cs typeface="Arial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C677048-ED30-AC4B-ACFE-C9F25AB32489}"/>
              </a:ext>
            </a:extLst>
          </p:cNvPr>
          <p:cNvSpPr/>
          <p:nvPr/>
        </p:nvSpPr>
        <p:spPr>
          <a:xfrm>
            <a:off x="2717800" y="9601200"/>
            <a:ext cx="2120900" cy="5588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805C644-4571-0A42-8D3C-6C72E5E807A7}"/>
              </a:ext>
            </a:extLst>
          </p:cNvPr>
          <p:cNvSpPr/>
          <p:nvPr/>
        </p:nvSpPr>
        <p:spPr>
          <a:xfrm>
            <a:off x="2717800" y="9601200"/>
            <a:ext cx="76200" cy="558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1527817-2423-6D4C-AF99-6B6ADCFCBD2C}"/>
              </a:ext>
            </a:extLst>
          </p:cNvPr>
          <p:cNvSpPr txBox="1"/>
          <p:nvPr/>
        </p:nvSpPr>
        <p:spPr>
          <a:xfrm>
            <a:off x="2946400" y="9664700"/>
            <a:ext cx="17907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400" b="1">
                <a:solidFill>
                  <a:srgbClr val="0D3A5C"/>
                </a:solidFill>
                <a:latin typeface="Arial"/>
                <a:cs typeface="Arial"/>
              </a:rPr>
              <a:t>防护强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DAF70DD-6536-2F46-B231-8D3BB6D19564}"/>
              </a:ext>
            </a:extLst>
          </p:cNvPr>
          <p:cNvSpPr txBox="1"/>
          <p:nvPr/>
        </p:nvSpPr>
        <p:spPr>
          <a:xfrm>
            <a:off x="2946400" y="9906000"/>
            <a:ext cx="17907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zh-CN" sz="1200">
                <a:solidFill>
                  <a:srgbClr val="44525E"/>
                </a:solidFill>
                <a:latin typeface="Arial"/>
                <a:cs typeface="Arial"/>
              </a:rPr>
              <a:t>IP65 </a:t>
            </a:r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工业防护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AC533AE-DF34-694D-8586-7261FABE0793}"/>
              </a:ext>
            </a:extLst>
          </p:cNvPr>
          <p:cNvSpPr/>
          <p:nvPr/>
        </p:nvSpPr>
        <p:spPr>
          <a:xfrm>
            <a:off x="4978400" y="9601200"/>
            <a:ext cx="2120900" cy="5588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72F1A6B-B8D4-214D-9E92-F5336B0AA831}"/>
              </a:ext>
            </a:extLst>
          </p:cNvPr>
          <p:cNvSpPr/>
          <p:nvPr/>
        </p:nvSpPr>
        <p:spPr>
          <a:xfrm>
            <a:off x="4978400" y="9601200"/>
            <a:ext cx="76200" cy="558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A0303BC-2CF1-F046-9407-D3AC2E37987A}"/>
              </a:ext>
            </a:extLst>
          </p:cNvPr>
          <p:cNvSpPr txBox="1"/>
          <p:nvPr/>
        </p:nvSpPr>
        <p:spPr>
          <a:xfrm>
            <a:off x="5207000" y="9664700"/>
            <a:ext cx="17907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400" b="1">
                <a:solidFill>
                  <a:srgbClr val="0D3A5C"/>
                </a:solidFill>
                <a:latin typeface="Arial"/>
                <a:cs typeface="Arial"/>
              </a:rPr>
              <a:t>输出全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1A555311-DF54-724E-8A38-19C373650421}"/>
              </a:ext>
            </a:extLst>
          </p:cNvPr>
          <p:cNvSpPr txBox="1"/>
          <p:nvPr/>
        </p:nvSpPr>
        <p:spPr>
          <a:xfrm>
            <a:off x="5207000" y="9906000"/>
            <a:ext cx="17907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zh-CN" sz="1200">
                <a:solidFill>
                  <a:srgbClr val="44525E"/>
                </a:solidFill>
                <a:latin typeface="Arial"/>
                <a:cs typeface="Arial"/>
              </a:rPr>
              <a:t>MODBUS · 4-20mA</a:t>
            </a:r>
            <a:endParaRPr lang="zh-CN" altLang="en-US" sz="1200">
              <a:solidFill>
                <a:srgbClr val="44525E"/>
              </a:solidFill>
              <a:latin typeface="Arial"/>
              <a:cs typeface="Arial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1C07D176-4D0D-5E49-8EE0-62E7C9830CCA}"/>
              </a:ext>
            </a:extLst>
          </p:cNvPr>
          <p:cNvSpPr/>
          <p:nvPr/>
        </p:nvSpPr>
        <p:spPr>
          <a:xfrm>
            <a:off x="6769100" y="10287000"/>
            <a:ext cx="330200" cy="330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CN" sz="1100" b="1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lang="zh-CN" altLang="en-US" sz="1100" b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F0240554-0CB9-664C-BA82-058A2613C11B}"/>
              </a:ext>
            </a:extLst>
          </p:cNvPr>
          <p:cNvSpPr/>
          <p:nvPr/>
        </p:nvSpPr>
        <p:spPr>
          <a:xfrm>
            <a:off x="0" y="0"/>
            <a:ext cx="7556500" cy="9144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A992E4-8600-EB4E-A33C-42146565CD60}"/>
              </a:ext>
            </a:extLst>
          </p:cNvPr>
          <p:cNvSpPr/>
          <p:nvPr/>
        </p:nvSpPr>
        <p:spPr>
          <a:xfrm>
            <a:off x="0" y="914400"/>
            <a:ext cx="75565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2C29B23-CA57-1445-9A73-A713FCBF86BB}"/>
              </a:ext>
            </a:extLst>
          </p:cNvPr>
          <p:cNvSpPr txBox="1"/>
          <p:nvPr/>
        </p:nvSpPr>
        <p:spPr>
          <a:xfrm>
            <a:off x="457200" y="0"/>
            <a:ext cx="5461000" cy="91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2800" b="1">
                <a:solidFill>
                  <a:srgbClr val="FFFFFF"/>
                </a:solidFill>
                <a:latin typeface="Arial"/>
                <a:cs typeface="Arial"/>
              </a:rPr>
              <a:t>产品特点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4DE220F-EF9C-794F-8115-5108D4FA2BE3}"/>
              </a:ext>
            </a:extLst>
          </p:cNvPr>
          <p:cNvSpPr txBox="1"/>
          <p:nvPr/>
        </p:nvSpPr>
        <p:spPr>
          <a:xfrm>
            <a:off x="457200" y="1031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000">
                <a:solidFill>
                  <a:srgbClr val="98A4AE"/>
                </a:solidFill>
                <a:latin typeface="Arial"/>
                <a:cs typeface="Arial"/>
              </a:rPr>
              <a:t>Rvision RUF-100  </a:t>
            </a:r>
            <a:r>
              <a:rPr lang="zh-CN" altLang="en-US" sz="1000">
                <a:solidFill>
                  <a:srgbClr val="98A4AE"/>
                </a:solidFill>
                <a:latin typeface="Arial"/>
                <a:cs typeface="Arial"/>
              </a:rPr>
              <a:t>外夹式超声波流量计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73448A9-8DE2-294F-BE99-2AFBD5655B6D}"/>
              </a:ext>
            </a:extLst>
          </p:cNvPr>
          <p:cNvSpPr txBox="1"/>
          <p:nvPr/>
        </p:nvSpPr>
        <p:spPr>
          <a:xfrm>
            <a:off x="457200" y="1219200"/>
            <a:ext cx="66421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44525E"/>
                </a:solidFill>
                <a:latin typeface="Arial"/>
                <a:cs typeface="Arial"/>
              </a:rPr>
              <a:t>外夹式非接触设计，规避传统接触式流量计的固有问题，部署更快、维护更省。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D541AEC-F884-7542-898C-4738686AD416}"/>
              </a:ext>
            </a:extLst>
          </p:cNvPr>
          <p:cNvSpPr/>
          <p:nvPr/>
        </p:nvSpPr>
        <p:spPr>
          <a:xfrm>
            <a:off x="457200" y="1778000"/>
            <a:ext cx="3238500" cy="3175000"/>
          </a:xfrm>
          <a:prstGeom prst="rect">
            <a:avLst/>
          </a:prstGeom>
          <a:solidFill>
            <a:srgbClr val="EDF0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4AF9725-195E-134B-9B09-F39AB618EC3A}"/>
              </a:ext>
            </a:extLst>
          </p:cNvPr>
          <p:cNvSpPr/>
          <p:nvPr/>
        </p:nvSpPr>
        <p:spPr>
          <a:xfrm>
            <a:off x="457200" y="1778000"/>
            <a:ext cx="3238500" cy="558800"/>
          </a:xfrm>
          <a:prstGeom prst="rect">
            <a:avLst/>
          </a:prstGeom>
          <a:solidFill>
            <a:srgbClr val="8A98A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zh-CN" altLang="en-US" sz="1500" b="1">
                <a:solidFill>
                  <a:srgbClr val="FFFFFF"/>
                </a:solidFill>
              </a:rPr>
              <a:t>传统接触式流量计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64C478C-1DBB-0B48-B7E7-4547DA6D1D3C}"/>
              </a:ext>
            </a:extLst>
          </p:cNvPr>
          <p:cNvSpPr/>
          <p:nvPr/>
        </p:nvSpPr>
        <p:spPr>
          <a:xfrm>
            <a:off x="3860800" y="1778000"/>
            <a:ext cx="3238500" cy="3175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AFC2133-01F8-5E45-815B-3398CF566C8C}"/>
              </a:ext>
            </a:extLst>
          </p:cNvPr>
          <p:cNvSpPr/>
          <p:nvPr/>
        </p:nvSpPr>
        <p:spPr>
          <a:xfrm>
            <a:off x="3860800" y="1778000"/>
            <a:ext cx="3238500" cy="5588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500" b="1">
                <a:solidFill>
                  <a:srgbClr val="FFFFFF"/>
                </a:solidFill>
              </a:rPr>
              <a:t>RUF-100 </a:t>
            </a:r>
            <a:r>
              <a:rPr lang="zh-CN" altLang="en-US" sz="1500" b="1">
                <a:solidFill>
                  <a:srgbClr val="FFFFFF"/>
                </a:solidFill>
              </a:rPr>
              <a:t>外夹式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3B081EC-6DAB-8045-8054-019193CCDEFC}"/>
              </a:ext>
            </a:extLst>
          </p:cNvPr>
          <p:cNvSpPr txBox="1"/>
          <p:nvPr/>
        </p:nvSpPr>
        <p:spPr>
          <a:xfrm>
            <a:off x="635000" y="25146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9AA6B2"/>
                </a:solidFill>
                <a:latin typeface="Arial"/>
                <a:cs typeface="Arial"/>
              </a:rPr>
              <a:t>✕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70952AA-B1D4-054B-A206-4E59ACBE694A}"/>
              </a:ext>
            </a:extLst>
          </p:cNvPr>
          <p:cNvSpPr txBox="1"/>
          <p:nvPr/>
        </p:nvSpPr>
        <p:spPr>
          <a:xfrm>
            <a:off x="914400" y="254000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44525E"/>
                </a:solidFill>
                <a:latin typeface="Arial"/>
                <a:cs typeface="Arial"/>
              </a:rPr>
              <a:t>需切管、断流、停机安装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7E49B66-432D-C44D-A848-F63DAC15B0A9}"/>
              </a:ext>
            </a:extLst>
          </p:cNvPr>
          <p:cNvSpPr txBox="1"/>
          <p:nvPr/>
        </p:nvSpPr>
        <p:spPr>
          <a:xfrm>
            <a:off x="635000" y="30988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9AA6B2"/>
                </a:solidFill>
                <a:latin typeface="Arial"/>
                <a:cs typeface="Arial"/>
              </a:rPr>
              <a:t>✕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4952AF6-B7BF-D04C-AC05-6D091C10A2CA}"/>
              </a:ext>
            </a:extLst>
          </p:cNvPr>
          <p:cNvSpPr txBox="1"/>
          <p:nvPr/>
        </p:nvSpPr>
        <p:spPr>
          <a:xfrm>
            <a:off x="914400" y="312420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44525E"/>
                </a:solidFill>
                <a:latin typeface="Arial"/>
                <a:cs typeface="Arial"/>
              </a:rPr>
              <a:t>机械部件易磨损、需持续维护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8C375B3-92F7-D746-A504-94A63ECB6041}"/>
              </a:ext>
            </a:extLst>
          </p:cNvPr>
          <p:cNvSpPr txBox="1"/>
          <p:nvPr/>
        </p:nvSpPr>
        <p:spPr>
          <a:xfrm>
            <a:off x="635000" y="36830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9AA6B2"/>
                </a:solidFill>
                <a:latin typeface="Arial"/>
                <a:cs typeface="Arial"/>
              </a:rPr>
              <a:t>✕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7338037-5081-CF4E-BCF0-B7F4CFB8A316}"/>
              </a:ext>
            </a:extLst>
          </p:cNvPr>
          <p:cNvSpPr txBox="1"/>
          <p:nvPr/>
        </p:nvSpPr>
        <p:spPr>
          <a:xfrm>
            <a:off x="914400" y="370840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44525E"/>
                </a:solidFill>
                <a:latin typeface="Arial"/>
                <a:cs typeface="Arial"/>
              </a:rPr>
              <a:t>探头阻流造成压力损失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03DEC7B-3E0A-394F-8E47-928E4BEBF2E0}"/>
              </a:ext>
            </a:extLst>
          </p:cNvPr>
          <p:cNvSpPr txBox="1"/>
          <p:nvPr/>
        </p:nvSpPr>
        <p:spPr>
          <a:xfrm>
            <a:off x="635000" y="42672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9AA6B2"/>
                </a:solidFill>
                <a:latin typeface="Arial"/>
                <a:cs typeface="Arial"/>
              </a:rPr>
              <a:t>✕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5D48785-7A09-F646-838E-3E5FB25B882E}"/>
              </a:ext>
            </a:extLst>
          </p:cNvPr>
          <p:cNvSpPr txBox="1"/>
          <p:nvPr/>
        </p:nvSpPr>
        <p:spPr>
          <a:xfrm>
            <a:off x="914400" y="429260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44525E"/>
                </a:solidFill>
                <a:latin typeface="Arial"/>
                <a:cs typeface="Arial"/>
              </a:rPr>
              <a:t>接触式易引入污染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66EC2E6-C149-7845-A862-779F74CF4276}"/>
              </a:ext>
            </a:extLst>
          </p:cNvPr>
          <p:cNvSpPr txBox="1"/>
          <p:nvPr/>
        </p:nvSpPr>
        <p:spPr>
          <a:xfrm>
            <a:off x="4038600" y="25146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1A7AB8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D5955C2-65BD-B64B-A65C-B9764B297FD3}"/>
              </a:ext>
            </a:extLst>
          </p:cNvPr>
          <p:cNvSpPr txBox="1"/>
          <p:nvPr/>
        </p:nvSpPr>
        <p:spPr>
          <a:xfrm>
            <a:off x="4318000" y="254000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44525E"/>
                </a:solidFill>
                <a:latin typeface="Arial"/>
                <a:cs typeface="Arial"/>
              </a:rPr>
              <a:t>外夹安装，不切管不停机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E6CFDD9-1B05-1C40-A252-8AA01896221F}"/>
              </a:ext>
            </a:extLst>
          </p:cNvPr>
          <p:cNvSpPr txBox="1"/>
          <p:nvPr/>
        </p:nvSpPr>
        <p:spPr>
          <a:xfrm>
            <a:off x="4038600" y="30988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1A7AB8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BFCE5C5-D9EA-A549-9C0A-1F4BDFE5CEC6}"/>
              </a:ext>
            </a:extLst>
          </p:cNvPr>
          <p:cNvSpPr txBox="1"/>
          <p:nvPr/>
        </p:nvSpPr>
        <p:spPr>
          <a:xfrm>
            <a:off x="4318000" y="312420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44525E"/>
                </a:solidFill>
                <a:latin typeface="Arial"/>
                <a:cs typeface="Arial"/>
              </a:rPr>
              <a:t>非接触无可动部件，免维护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A90AB89-9601-6E41-AF5B-E4337D528539}"/>
              </a:ext>
            </a:extLst>
          </p:cNvPr>
          <p:cNvSpPr txBox="1"/>
          <p:nvPr/>
        </p:nvSpPr>
        <p:spPr>
          <a:xfrm>
            <a:off x="4038600" y="36830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1A7AB8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7887B39-655E-D34B-BE37-22E5975A7DB0}"/>
              </a:ext>
            </a:extLst>
          </p:cNvPr>
          <p:cNvSpPr txBox="1"/>
          <p:nvPr/>
        </p:nvSpPr>
        <p:spPr>
          <a:xfrm>
            <a:off x="4318000" y="370840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44525E"/>
                </a:solidFill>
                <a:latin typeface="Arial"/>
                <a:cs typeface="Arial"/>
              </a:rPr>
              <a:t>零压损，不接触流体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2DA5603-1702-4A40-BDF9-11368977A34F}"/>
              </a:ext>
            </a:extLst>
          </p:cNvPr>
          <p:cNvSpPr txBox="1"/>
          <p:nvPr/>
        </p:nvSpPr>
        <p:spPr>
          <a:xfrm>
            <a:off x="4038600" y="4267200"/>
            <a:ext cx="254000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1A7AB8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9DD7170-8D8C-404F-9706-CF35FF0259C5}"/>
              </a:ext>
            </a:extLst>
          </p:cNvPr>
          <p:cNvSpPr txBox="1"/>
          <p:nvPr/>
        </p:nvSpPr>
        <p:spPr>
          <a:xfrm>
            <a:off x="4318000" y="4292600"/>
            <a:ext cx="26289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44525E"/>
                </a:solidFill>
                <a:latin typeface="Arial"/>
                <a:cs typeface="Arial"/>
              </a:rPr>
              <a:t>非接触式，无污染风险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8404ED9-7A11-1E42-B528-A8BF35D0CAAD}"/>
              </a:ext>
            </a:extLst>
          </p:cNvPr>
          <p:cNvSpPr txBox="1"/>
          <p:nvPr/>
        </p:nvSpPr>
        <p:spPr>
          <a:xfrm>
            <a:off x="457200" y="5232400"/>
            <a:ext cx="381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b="1">
                <a:solidFill>
                  <a:srgbClr val="18232F"/>
                </a:solidFill>
                <a:latin typeface="Arial"/>
                <a:cs typeface="Arial"/>
              </a:rPr>
              <a:t>核心能力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5AD164E-5F28-774C-95CD-2DF241406284}"/>
              </a:ext>
            </a:extLst>
          </p:cNvPr>
          <p:cNvSpPr/>
          <p:nvPr/>
        </p:nvSpPr>
        <p:spPr>
          <a:xfrm>
            <a:off x="457200" y="5588000"/>
            <a:ext cx="6096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5200831-D4C0-3547-A4AB-54DB9989C946}"/>
              </a:ext>
            </a:extLst>
          </p:cNvPr>
          <p:cNvSpPr/>
          <p:nvPr/>
        </p:nvSpPr>
        <p:spPr>
          <a:xfrm>
            <a:off x="457200" y="5842000"/>
            <a:ext cx="2103966" cy="14986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B9C4A1C-3B78-5045-A3FA-24FEADBD2522}"/>
              </a:ext>
            </a:extLst>
          </p:cNvPr>
          <p:cNvSpPr/>
          <p:nvPr/>
        </p:nvSpPr>
        <p:spPr>
          <a:xfrm>
            <a:off x="457200" y="5842000"/>
            <a:ext cx="2103966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873B80E-F2C8-594E-86B3-06FB47972590}"/>
              </a:ext>
            </a:extLst>
          </p:cNvPr>
          <p:cNvSpPr/>
          <p:nvPr/>
        </p:nvSpPr>
        <p:spPr>
          <a:xfrm>
            <a:off x="635000" y="6096000"/>
            <a:ext cx="355600" cy="3556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</a:rPr>
              <a:t>1</a:t>
            </a:r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ED45CEB-DD16-B241-93AA-867DADA83187}"/>
              </a:ext>
            </a:extLst>
          </p:cNvPr>
          <p:cNvSpPr txBox="1"/>
          <p:nvPr/>
        </p:nvSpPr>
        <p:spPr>
          <a:xfrm>
            <a:off x="635000" y="6527800"/>
            <a:ext cx="1748366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50" b="1">
                <a:solidFill>
                  <a:srgbClr val="0D3A5C"/>
                </a:solidFill>
                <a:latin typeface="Arial"/>
                <a:cs typeface="Arial"/>
              </a:rPr>
              <a:t>安装简单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2AF16DA-A0D0-ED40-8897-F6C1EF05D17F}"/>
              </a:ext>
            </a:extLst>
          </p:cNvPr>
          <p:cNvSpPr txBox="1"/>
          <p:nvPr/>
        </p:nvSpPr>
        <p:spPr>
          <a:xfrm>
            <a:off x="635000" y="6832600"/>
            <a:ext cx="1748366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50">
                <a:solidFill>
                  <a:srgbClr val="44525E"/>
                </a:solidFill>
                <a:latin typeface="Arial"/>
                <a:cs typeface="Arial"/>
              </a:rPr>
              <a:t>夹持机构固定、主机上锁，常规工具即可完成。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263BA73-8E06-C341-99D4-2507423B199C}"/>
              </a:ext>
            </a:extLst>
          </p:cNvPr>
          <p:cNvSpPr/>
          <p:nvPr/>
        </p:nvSpPr>
        <p:spPr>
          <a:xfrm>
            <a:off x="2726266" y="5842000"/>
            <a:ext cx="2103966" cy="14986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E4F45B27-B6F3-644C-A7E8-5CBB1F63EF50}"/>
              </a:ext>
            </a:extLst>
          </p:cNvPr>
          <p:cNvSpPr/>
          <p:nvPr/>
        </p:nvSpPr>
        <p:spPr>
          <a:xfrm>
            <a:off x="2726266" y="5842000"/>
            <a:ext cx="2103966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63155BF-6E0D-7844-8408-A88D88E5E928}"/>
              </a:ext>
            </a:extLst>
          </p:cNvPr>
          <p:cNvSpPr/>
          <p:nvPr/>
        </p:nvSpPr>
        <p:spPr>
          <a:xfrm>
            <a:off x="2904066" y="6096000"/>
            <a:ext cx="355600" cy="3556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</a:rPr>
              <a:t>2</a:t>
            </a:r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8343B03-27F5-B94A-989B-63166710691B}"/>
              </a:ext>
            </a:extLst>
          </p:cNvPr>
          <p:cNvSpPr txBox="1"/>
          <p:nvPr/>
        </p:nvSpPr>
        <p:spPr>
          <a:xfrm>
            <a:off x="2904066" y="6527800"/>
            <a:ext cx="1748366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50" b="1">
                <a:solidFill>
                  <a:srgbClr val="0D3A5C"/>
                </a:solidFill>
                <a:latin typeface="Arial"/>
                <a:cs typeface="Arial"/>
              </a:rPr>
              <a:t>适用范围广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4A66C5E-F8B9-0445-9778-B9CF5CB77846}"/>
              </a:ext>
            </a:extLst>
          </p:cNvPr>
          <p:cNvSpPr txBox="1"/>
          <p:nvPr/>
        </p:nvSpPr>
        <p:spPr>
          <a:xfrm>
            <a:off x="2904066" y="6832600"/>
            <a:ext cx="1748366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50">
                <a:solidFill>
                  <a:srgbClr val="44525E"/>
                </a:solidFill>
                <a:latin typeface="Arial"/>
                <a:cs typeface="Arial"/>
              </a:rPr>
              <a:t>适用水、油、化学试剂，兼容金属管与树脂管。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EA2ACF9-20EC-184F-97A9-70EB0B34C706}"/>
              </a:ext>
            </a:extLst>
          </p:cNvPr>
          <p:cNvSpPr/>
          <p:nvPr/>
        </p:nvSpPr>
        <p:spPr>
          <a:xfrm>
            <a:off x="4995333" y="5842000"/>
            <a:ext cx="2103966" cy="14986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A614264-EB51-C84D-8505-0A2EEF80B8DF}"/>
              </a:ext>
            </a:extLst>
          </p:cNvPr>
          <p:cNvSpPr/>
          <p:nvPr/>
        </p:nvSpPr>
        <p:spPr>
          <a:xfrm>
            <a:off x="4995333" y="5842000"/>
            <a:ext cx="2103966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E41C5C9-0F89-CA4A-AE89-34322A77798E}"/>
              </a:ext>
            </a:extLst>
          </p:cNvPr>
          <p:cNvSpPr/>
          <p:nvPr/>
        </p:nvSpPr>
        <p:spPr>
          <a:xfrm>
            <a:off x="5173133" y="6096000"/>
            <a:ext cx="355600" cy="3556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</a:rPr>
              <a:t>3</a:t>
            </a:r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FB26765-1135-B148-B59D-9B80EE1A99EC}"/>
              </a:ext>
            </a:extLst>
          </p:cNvPr>
          <p:cNvSpPr txBox="1"/>
          <p:nvPr/>
        </p:nvSpPr>
        <p:spPr>
          <a:xfrm>
            <a:off x="5173133" y="6527800"/>
            <a:ext cx="1748366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50" b="1">
                <a:solidFill>
                  <a:srgbClr val="0D3A5C"/>
                </a:solidFill>
                <a:latin typeface="Arial"/>
                <a:cs typeface="Arial"/>
              </a:rPr>
              <a:t>便于系统接入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A0CFE13-75B6-1A45-A1E9-9EA4AFA5F118}"/>
              </a:ext>
            </a:extLst>
          </p:cNvPr>
          <p:cNvSpPr txBox="1"/>
          <p:nvPr/>
        </p:nvSpPr>
        <p:spPr>
          <a:xfrm>
            <a:off x="5173133" y="6832600"/>
            <a:ext cx="1748366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150">
                <a:solidFill>
                  <a:srgbClr val="44525E"/>
                </a:solidFill>
                <a:latin typeface="Arial"/>
                <a:cs typeface="Arial"/>
              </a:rPr>
              <a:t>NPN/PNP</a:t>
            </a:r>
            <a:r>
              <a:rPr lang="zh-CN" altLang="en-US" sz="1150">
                <a:solidFill>
                  <a:srgbClr val="44525E"/>
                </a:solidFill>
                <a:latin typeface="Arial"/>
                <a:cs typeface="Arial"/>
              </a:rPr>
              <a:t>、</a:t>
            </a:r>
            <a:r>
              <a:rPr lang="en-US" altLang="zh-CN" sz="1150">
                <a:solidFill>
                  <a:srgbClr val="44525E"/>
                </a:solidFill>
                <a:latin typeface="Arial"/>
                <a:cs typeface="Arial"/>
              </a:rPr>
              <a:t>4-20mA</a:t>
            </a:r>
            <a:r>
              <a:rPr lang="zh-CN" altLang="en-US" sz="1150">
                <a:solidFill>
                  <a:srgbClr val="44525E"/>
                </a:solidFill>
                <a:latin typeface="Arial"/>
                <a:cs typeface="Arial"/>
              </a:rPr>
              <a:t>、报警输出与 </a:t>
            </a:r>
            <a:r>
              <a:rPr lang="en-US" altLang="zh-CN" sz="1150">
                <a:solidFill>
                  <a:srgbClr val="44525E"/>
                </a:solidFill>
                <a:latin typeface="Arial"/>
                <a:cs typeface="Arial"/>
              </a:rPr>
              <a:t>MODBUS </a:t>
            </a:r>
            <a:r>
              <a:rPr lang="zh-CN" altLang="en-US" sz="1150">
                <a:solidFill>
                  <a:srgbClr val="44525E"/>
                </a:solidFill>
                <a:latin typeface="Arial"/>
                <a:cs typeface="Arial"/>
              </a:rPr>
              <a:t>通讯。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0DF89159-CBC2-7041-BE81-5DDA9E9D66B5}"/>
              </a:ext>
            </a:extLst>
          </p:cNvPr>
          <p:cNvSpPr/>
          <p:nvPr/>
        </p:nvSpPr>
        <p:spPr>
          <a:xfrm>
            <a:off x="457200" y="7747000"/>
            <a:ext cx="6642100" cy="12192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1272A9F-81BC-724D-8B7C-9F255F30C8D8}"/>
              </a:ext>
            </a:extLst>
          </p:cNvPr>
          <p:cNvSpPr/>
          <p:nvPr/>
        </p:nvSpPr>
        <p:spPr>
          <a:xfrm>
            <a:off x="457200" y="7747000"/>
            <a:ext cx="76200" cy="1219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2149705-C99E-5644-9B9B-7E479A8FDB7A}"/>
              </a:ext>
            </a:extLst>
          </p:cNvPr>
          <p:cNvSpPr txBox="1"/>
          <p:nvPr/>
        </p:nvSpPr>
        <p:spPr>
          <a:xfrm>
            <a:off x="812800" y="7975600"/>
            <a:ext cx="6096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b="1">
                <a:solidFill>
                  <a:srgbClr val="FFFFFF"/>
                </a:solidFill>
                <a:latin typeface="Arial"/>
                <a:cs typeface="Arial"/>
              </a:rPr>
              <a:t>适用于既有管路加装流量监控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B21BA63-BAC0-CF42-81F9-D3D35C042F2F}"/>
              </a:ext>
            </a:extLst>
          </p:cNvPr>
          <p:cNvSpPr txBox="1"/>
          <p:nvPr/>
        </p:nvSpPr>
        <p:spPr>
          <a:xfrm>
            <a:off x="812800" y="84074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00">
                <a:solidFill>
                  <a:srgbClr val="CEE2EC"/>
                </a:solidFill>
                <a:latin typeface="Arial"/>
                <a:cs typeface="Arial"/>
              </a:rPr>
              <a:t>不改变管线结构，部署更快，维护更方便。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FA28B47-F414-3A4D-A80F-FBFCC908D3CF}"/>
              </a:ext>
            </a:extLst>
          </p:cNvPr>
          <p:cNvSpPr/>
          <p:nvPr/>
        </p:nvSpPr>
        <p:spPr>
          <a:xfrm>
            <a:off x="6769100" y="10287000"/>
            <a:ext cx="330200" cy="330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CN" sz="1100" b="1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lang="zh-CN" altLang="en-US" sz="1100" b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3A80F46-1960-DE45-AB7D-52A64F3015CE}"/>
              </a:ext>
            </a:extLst>
          </p:cNvPr>
          <p:cNvSpPr/>
          <p:nvPr/>
        </p:nvSpPr>
        <p:spPr>
          <a:xfrm>
            <a:off x="0" y="0"/>
            <a:ext cx="7556500" cy="9144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965485F-98B6-AB49-8954-1A8C24FE5879}"/>
              </a:ext>
            </a:extLst>
          </p:cNvPr>
          <p:cNvSpPr/>
          <p:nvPr/>
        </p:nvSpPr>
        <p:spPr>
          <a:xfrm>
            <a:off x="0" y="914400"/>
            <a:ext cx="75565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4D2B92E-A033-FE43-AA97-388D8DBA20AA}"/>
              </a:ext>
            </a:extLst>
          </p:cNvPr>
          <p:cNvSpPr txBox="1"/>
          <p:nvPr/>
        </p:nvSpPr>
        <p:spPr>
          <a:xfrm>
            <a:off x="457200" y="0"/>
            <a:ext cx="5461000" cy="91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2800" b="1">
                <a:solidFill>
                  <a:srgbClr val="FFFFFF"/>
                </a:solidFill>
                <a:latin typeface="Arial"/>
                <a:cs typeface="Arial"/>
              </a:rPr>
              <a:t>适用范围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79F94FB-F1F7-B549-BF65-F7F0664BD751}"/>
              </a:ext>
            </a:extLst>
          </p:cNvPr>
          <p:cNvSpPr txBox="1"/>
          <p:nvPr/>
        </p:nvSpPr>
        <p:spPr>
          <a:xfrm>
            <a:off x="457200" y="1031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000">
                <a:solidFill>
                  <a:srgbClr val="98A4AE"/>
                </a:solidFill>
                <a:latin typeface="Arial"/>
                <a:cs typeface="Arial"/>
              </a:rPr>
              <a:t>Rvision RUF-100  </a:t>
            </a:r>
            <a:r>
              <a:rPr lang="zh-CN" altLang="en-US" sz="1000">
                <a:solidFill>
                  <a:srgbClr val="98A4AE"/>
                </a:solidFill>
                <a:latin typeface="Arial"/>
                <a:cs typeface="Arial"/>
              </a:rPr>
              <a:t>外夹式超声波流量计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E257F95-F11C-FB41-B7F2-7BD4D0555EDE}"/>
              </a:ext>
            </a:extLst>
          </p:cNvPr>
          <p:cNvSpPr txBox="1"/>
          <p:nvPr/>
        </p:nvSpPr>
        <p:spPr>
          <a:xfrm>
            <a:off x="457200" y="1219200"/>
            <a:ext cx="66421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400">
                <a:solidFill>
                  <a:srgbClr val="44525E"/>
                </a:solidFill>
                <a:latin typeface="Arial"/>
                <a:cs typeface="Arial"/>
              </a:rPr>
              <a:t>可适用各种液体，并兼容各种管线材质和尺寸，灵活适配现场工况。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D99A209-9EF9-8A41-98BC-45C759F9D077}"/>
              </a:ext>
            </a:extLst>
          </p:cNvPr>
          <p:cNvSpPr/>
          <p:nvPr/>
        </p:nvSpPr>
        <p:spPr>
          <a:xfrm>
            <a:off x="457200" y="1879600"/>
            <a:ext cx="2078566" cy="3810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7D073EB-FCEC-6942-83FE-05569645F004}"/>
              </a:ext>
            </a:extLst>
          </p:cNvPr>
          <p:cNvSpPr/>
          <p:nvPr/>
        </p:nvSpPr>
        <p:spPr>
          <a:xfrm>
            <a:off x="457200" y="1879600"/>
            <a:ext cx="2078566" cy="7112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EE97EE9F-FAAA-4B43-828A-550E5936EFAF}"/>
              </a:ext>
            </a:extLst>
          </p:cNvPr>
          <p:cNvSpPr/>
          <p:nvPr/>
        </p:nvSpPr>
        <p:spPr>
          <a:xfrm>
            <a:off x="635000" y="2070100"/>
            <a:ext cx="330200" cy="330200"/>
          </a:xfrm>
          <a:prstGeom prst="ellipse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300" b="1">
                <a:solidFill>
                  <a:srgbClr val="FFFFFF"/>
                </a:solidFill>
              </a:rPr>
              <a:t>1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A35DCDC-F088-1648-8F49-F44C848097A1}"/>
              </a:ext>
            </a:extLst>
          </p:cNvPr>
          <p:cNvSpPr txBox="1"/>
          <p:nvPr/>
        </p:nvSpPr>
        <p:spPr>
          <a:xfrm>
            <a:off x="1066800" y="1879600"/>
            <a:ext cx="1367366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600" b="1">
                <a:solidFill>
                  <a:srgbClr val="FFFFFF"/>
                </a:solidFill>
                <a:latin typeface="Arial"/>
                <a:cs typeface="Arial"/>
              </a:rPr>
              <a:t>适用液体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A84840E-5634-FD44-9EA8-5ACFC7075CDE}"/>
              </a:ext>
            </a:extLst>
          </p:cNvPr>
          <p:cNvSpPr/>
          <p:nvPr/>
        </p:nvSpPr>
        <p:spPr>
          <a:xfrm>
            <a:off x="660400" y="2895600"/>
            <a:ext cx="88900" cy="889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6470415-5556-FF4F-937C-80512AC90190}"/>
              </a:ext>
            </a:extLst>
          </p:cNvPr>
          <p:cNvSpPr txBox="1"/>
          <p:nvPr/>
        </p:nvSpPr>
        <p:spPr>
          <a:xfrm>
            <a:off x="838200" y="2819400"/>
            <a:ext cx="1519766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350">
                <a:solidFill>
                  <a:srgbClr val="18232F"/>
                </a:solidFill>
                <a:latin typeface="Arial"/>
                <a:cs typeface="Arial"/>
              </a:rPr>
              <a:t>水（含去离子水）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EA41CBF-DBE2-D94C-A848-042A00B8EA40}"/>
              </a:ext>
            </a:extLst>
          </p:cNvPr>
          <p:cNvSpPr/>
          <p:nvPr/>
        </p:nvSpPr>
        <p:spPr>
          <a:xfrm>
            <a:off x="660400" y="3276600"/>
            <a:ext cx="88900" cy="889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294EE47-DB82-DD45-BA2C-FBD84ECDBF87}"/>
              </a:ext>
            </a:extLst>
          </p:cNvPr>
          <p:cNvSpPr txBox="1"/>
          <p:nvPr/>
        </p:nvSpPr>
        <p:spPr>
          <a:xfrm>
            <a:off x="838200" y="3200400"/>
            <a:ext cx="1519766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50">
                <a:solidFill>
                  <a:srgbClr val="18232F"/>
                </a:solidFill>
                <a:latin typeface="Arial"/>
                <a:cs typeface="Arial"/>
              </a:rPr>
              <a:t>油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E6E0733-D742-774F-9265-953F2F9B9F5E}"/>
              </a:ext>
            </a:extLst>
          </p:cNvPr>
          <p:cNvSpPr/>
          <p:nvPr/>
        </p:nvSpPr>
        <p:spPr>
          <a:xfrm>
            <a:off x="660400" y="3657600"/>
            <a:ext cx="88900" cy="889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6E53114-E69C-8648-8A43-A4D5016F6515}"/>
              </a:ext>
            </a:extLst>
          </p:cNvPr>
          <p:cNvSpPr txBox="1"/>
          <p:nvPr/>
        </p:nvSpPr>
        <p:spPr>
          <a:xfrm>
            <a:off x="838200" y="3581400"/>
            <a:ext cx="1519766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50">
                <a:solidFill>
                  <a:srgbClr val="18232F"/>
                </a:solidFill>
                <a:latin typeface="Arial"/>
                <a:cs typeface="Arial"/>
              </a:rPr>
              <a:t>化学试剂等液体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DE58D0A-A2CD-3F49-8C6C-80B6E9F17EF1}"/>
              </a:ext>
            </a:extLst>
          </p:cNvPr>
          <p:cNvSpPr/>
          <p:nvPr/>
        </p:nvSpPr>
        <p:spPr>
          <a:xfrm>
            <a:off x="2738966" y="1879600"/>
            <a:ext cx="2078566" cy="3810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D68E1C5-09CA-5944-86A3-E1F71DA30608}"/>
              </a:ext>
            </a:extLst>
          </p:cNvPr>
          <p:cNvSpPr/>
          <p:nvPr/>
        </p:nvSpPr>
        <p:spPr>
          <a:xfrm>
            <a:off x="2738966" y="1879600"/>
            <a:ext cx="2078566" cy="7112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B42383AA-1D8B-9C48-B0AA-41C229CA4B18}"/>
              </a:ext>
            </a:extLst>
          </p:cNvPr>
          <p:cNvSpPr/>
          <p:nvPr/>
        </p:nvSpPr>
        <p:spPr>
          <a:xfrm>
            <a:off x="2916766" y="2070100"/>
            <a:ext cx="330200" cy="330200"/>
          </a:xfrm>
          <a:prstGeom prst="ellipse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300" b="1">
                <a:solidFill>
                  <a:srgbClr val="FFFFFF"/>
                </a:solidFill>
              </a:rPr>
              <a:t>2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2EFBBC6-3100-6E4F-8BD0-A293F2845598}"/>
              </a:ext>
            </a:extLst>
          </p:cNvPr>
          <p:cNvSpPr txBox="1"/>
          <p:nvPr/>
        </p:nvSpPr>
        <p:spPr>
          <a:xfrm>
            <a:off x="3348566" y="1879600"/>
            <a:ext cx="1367366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600" b="1">
                <a:solidFill>
                  <a:srgbClr val="FFFFFF"/>
                </a:solidFill>
                <a:latin typeface="Arial"/>
                <a:cs typeface="Arial"/>
              </a:rPr>
              <a:t>兼容管材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F6E34A7-D692-264B-B1CB-7A96790C9297}"/>
              </a:ext>
            </a:extLst>
          </p:cNvPr>
          <p:cNvSpPr/>
          <p:nvPr/>
        </p:nvSpPr>
        <p:spPr>
          <a:xfrm>
            <a:off x="2942166" y="2895600"/>
            <a:ext cx="88900" cy="889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B6F6623-6EAD-A640-9DC5-4FF7D1DFFF93}"/>
              </a:ext>
            </a:extLst>
          </p:cNvPr>
          <p:cNvSpPr txBox="1"/>
          <p:nvPr/>
        </p:nvSpPr>
        <p:spPr>
          <a:xfrm>
            <a:off x="3119966" y="2819400"/>
            <a:ext cx="1519766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50" b="1">
                <a:solidFill>
                  <a:srgbClr val="18232F"/>
                </a:solidFill>
                <a:latin typeface="Arial"/>
                <a:cs typeface="Arial"/>
              </a:rPr>
              <a:t>金属管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91F5FD96-88F1-E34A-B900-C21A3425BDC5}"/>
              </a:ext>
            </a:extLst>
          </p:cNvPr>
          <p:cNvSpPr txBox="1"/>
          <p:nvPr/>
        </p:nvSpPr>
        <p:spPr>
          <a:xfrm>
            <a:off x="3145366" y="3200400"/>
            <a:ext cx="1519766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50">
                <a:solidFill>
                  <a:srgbClr val="7A8794"/>
                </a:solidFill>
                <a:latin typeface="Arial"/>
                <a:cs typeface="Arial"/>
              </a:rPr>
              <a:t>不锈钢 </a:t>
            </a:r>
            <a:r>
              <a:rPr lang="en-US" altLang="zh-CN" sz="1150">
                <a:solidFill>
                  <a:srgbClr val="7A8794"/>
                </a:solidFill>
                <a:latin typeface="Arial"/>
                <a:cs typeface="Arial"/>
              </a:rPr>
              <a:t>/ </a:t>
            </a:r>
            <a:r>
              <a:rPr lang="zh-CN" altLang="en-US" sz="1150">
                <a:solidFill>
                  <a:srgbClr val="7A8794"/>
                </a:solidFill>
                <a:latin typeface="Arial"/>
                <a:cs typeface="Arial"/>
              </a:rPr>
              <a:t>铁 </a:t>
            </a:r>
            <a:r>
              <a:rPr lang="en-US" altLang="zh-CN" sz="1150">
                <a:solidFill>
                  <a:srgbClr val="7A8794"/>
                </a:solidFill>
                <a:latin typeface="Arial"/>
                <a:cs typeface="Arial"/>
              </a:rPr>
              <a:t>/ </a:t>
            </a:r>
            <a:r>
              <a:rPr lang="zh-CN" altLang="en-US" sz="1150">
                <a:solidFill>
                  <a:srgbClr val="7A8794"/>
                </a:solidFill>
                <a:latin typeface="Arial"/>
                <a:cs typeface="Arial"/>
              </a:rPr>
              <a:t>铝 </a:t>
            </a:r>
            <a:r>
              <a:rPr lang="en-US" altLang="zh-CN" sz="1150">
                <a:solidFill>
                  <a:srgbClr val="7A8794"/>
                </a:solidFill>
                <a:latin typeface="Arial"/>
                <a:cs typeface="Arial"/>
              </a:rPr>
              <a:t>/ </a:t>
            </a:r>
            <a:r>
              <a:rPr lang="zh-CN" altLang="en-US" sz="1150">
                <a:solidFill>
                  <a:srgbClr val="7A8794"/>
                </a:solidFill>
                <a:latin typeface="Arial"/>
                <a:cs typeface="Arial"/>
              </a:rPr>
              <a:t>铜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F047D04-FF4C-D54C-B679-2287F53B783A}"/>
              </a:ext>
            </a:extLst>
          </p:cNvPr>
          <p:cNvSpPr/>
          <p:nvPr/>
        </p:nvSpPr>
        <p:spPr>
          <a:xfrm>
            <a:off x="2942166" y="3581400"/>
            <a:ext cx="88900" cy="889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5E67F98-01BE-2D4B-8B6D-F66E3EB0B8DA}"/>
              </a:ext>
            </a:extLst>
          </p:cNvPr>
          <p:cNvSpPr txBox="1"/>
          <p:nvPr/>
        </p:nvSpPr>
        <p:spPr>
          <a:xfrm>
            <a:off x="3119966" y="3505200"/>
            <a:ext cx="1519766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50" b="1">
                <a:solidFill>
                  <a:srgbClr val="18232F"/>
                </a:solidFill>
                <a:latin typeface="Arial"/>
                <a:cs typeface="Arial"/>
              </a:rPr>
              <a:t>树脂管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AA1F5A2-EB3D-4945-AB17-B320C4F2130F}"/>
              </a:ext>
            </a:extLst>
          </p:cNvPr>
          <p:cNvSpPr txBox="1"/>
          <p:nvPr/>
        </p:nvSpPr>
        <p:spPr>
          <a:xfrm>
            <a:off x="3145366" y="3886200"/>
            <a:ext cx="1519766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150">
                <a:solidFill>
                  <a:srgbClr val="7A8794"/>
                </a:solidFill>
                <a:latin typeface="Arial"/>
                <a:cs typeface="Arial"/>
              </a:rPr>
              <a:t>PVC / </a:t>
            </a:r>
            <a:r>
              <a:rPr lang="zh-CN" altLang="en-US" sz="1150">
                <a:solidFill>
                  <a:srgbClr val="7A8794"/>
                </a:solidFill>
                <a:latin typeface="Arial"/>
                <a:cs typeface="Arial"/>
              </a:rPr>
              <a:t>其他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D571FA9-C8A3-EB4C-BA08-D11BF22F0BF7}"/>
              </a:ext>
            </a:extLst>
          </p:cNvPr>
          <p:cNvSpPr/>
          <p:nvPr/>
        </p:nvSpPr>
        <p:spPr>
          <a:xfrm>
            <a:off x="5020733" y="1879600"/>
            <a:ext cx="2078566" cy="3810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E4BBC41-803C-724E-A339-16A22CFD9DDC}"/>
              </a:ext>
            </a:extLst>
          </p:cNvPr>
          <p:cNvSpPr/>
          <p:nvPr/>
        </p:nvSpPr>
        <p:spPr>
          <a:xfrm>
            <a:off x="5020733" y="1879600"/>
            <a:ext cx="2078566" cy="7112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D94BFA34-C679-1740-86D8-6AF592B322F3}"/>
              </a:ext>
            </a:extLst>
          </p:cNvPr>
          <p:cNvSpPr/>
          <p:nvPr/>
        </p:nvSpPr>
        <p:spPr>
          <a:xfrm>
            <a:off x="5198533" y="2070100"/>
            <a:ext cx="330200" cy="330200"/>
          </a:xfrm>
          <a:prstGeom prst="ellipse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1300" b="1">
                <a:solidFill>
                  <a:srgbClr val="FFFFFF"/>
                </a:solidFill>
              </a:rPr>
              <a:t>3</a:t>
            </a:r>
            <a:endParaRPr lang="zh-CN" altLang="en-US" sz="1300" b="1">
              <a:solidFill>
                <a:srgbClr val="FFFFFF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07F10F8-7CD7-BE4F-A439-D0F797E0EE81}"/>
              </a:ext>
            </a:extLst>
          </p:cNvPr>
          <p:cNvSpPr txBox="1"/>
          <p:nvPr/>
        </p:nvSpPr>
        <p:spPr>
          <a:xfrm>
            <a:off x="5630333" y="1879600"/>
            <a:ext cx="1367366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600" b="1">
                <a:solidFill>
                  <a:srgbClr val="FFFFFF"/>
                </a:solidFill>
                <a:latin typeface="Arial"/>
                <a:cs typeface="Arial"/>
              </a:rPr>
              <a:t>兼容管径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E28FEE1-3FC7-DB49-A078-36392E6AE131}"/>
              </a:ext>
            </a:extLst>
          </p:cNvPr>
          <p:cNvSpPr/>
          <p:nvPr/>
        </p:nvSpPr>
        <p:spPr>
          <a:xfrm>
            <a:off x="5223933" y="2895600"/>
            <a:ext cx="88900" cy="889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26FFF69-0C24-2948-9604-815B3193EDF3}"/>
              </a:ext>
            </a:extLst>
          </p:cNvPr>
          <p:cNvSpPr txBox="1"/>
          <p:nvPr/>
        </p:nvSpPr>
        <p:spPr>
          <a:xfrm>
            <a:off x="5401733" y="2819400"/>
            <a:ext cx="1519766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350">
                <a:solidFill>
                  <a:srgbClr val="18232F"/>
                </a:solidFill>
                <a:latin typeface="Arial"/>
                <a:cs typeface="Arial"/>
              </a:rPr>
              <a:t>DN8 – DN50</a:t>
            </a:r>
            <a:endParaRPr lang="zh-CN" altLang="en-US" sz="1350">
              <a:solidFill>
                <a:srgbClr val="18232F"/>
              </a:solidFill>
              <a:latin typeface="Arial"/>
              <a:cs typeface="Arial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75EB5E7-9D95-E641-8EA8-44A0D8C47252}"/>
              </a:ext>
            </a:extLst>
          </p:cNvPr>
          <p:cNvSpPr txBox="1"/>
          <p:nvPr/>
        </p:nvSpPr>
        <p:spPr>
          <a:xfrm>
            <a:off x="5427133" y="3200400"/>
            <a:ext cx="1519766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150">
                <a:solidFill>
                  <a:srgbClr val="7A8794"/>
                </a:solidFill>
                <a:latin typeface="Arial"/>
                <a:cs typeface="Arial"/>
              </a:rPr>
              <a:t>管外径 </a:t>
            </a:r>
            <a:r>
              <a:rPr lang="el-GR" altLang="zh-CN" sz="1150">
                <a:solidFill>
                  <a:srgbClr val="7A8794"/>
                </a:solidFill>
                <a:latin typeface="Arial"/>
                <a:cs typeface="Arial"/>
              </a:rPr>
              <a:t>Φ10–Φ65 </a:t>
            </a:r>
            <a:r>
              <a:rPr lang="en-US" altLang="zh-CN" sz="1150">
                <a:solidFill>
                  <a:srgbClr val="7A8794"/>
                </a:solidFill>
                <a:latin typeface="Arial"/>
                <a:cs typeface="Arial"/>
              </a:rPr>
              <a:t>mm</a:t>
            </a:r>
            <a:endParaRPr lang="zh-CN" altLang="en-US" sz="1150">
              <a:solidFill>
                <a:srgbClr val="7A8794"/>
              </a:solidFill>
              <a:latin typeface="Arial"/>
              <a:cs typeface="Arial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8F1D93A-4BB2-3543-819C-92F887767F15}"/>
              </a:ext>
            </a:extLst>
          </p:cNvPr>
          <p:cNvSpPr txBox="1"/>
          <p:nvPr/>
        </p:nvSpPr>
        <p:spPr>
          <a:xfrm>
            <a:off x="5427133" y="3505200"/>
            <a:ext cx="1519766" cy="25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50">
                <a:solidFill>
                  <a:srgbClr val="7A8794"/>
                </a:solidFill>
                <a:latin typeface="Arial"/>
                <a:cs typeface="Arial"/>
              </a:rPr>
              <a:t>单机覆盖多种规格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9918D6-0859-434B-8B23-7CCAF8EF4C89}"/>
              </a:ext>
            </a:extLst>
          </p:cNvPr>
          <p:cNvSpPr/>
          <p:nvPr/>
        </p:nvSpPr>
        <p:spPr>
          <a:xfrm>
            <a:off x="457200" y="6350000"/>
            <a:ext cx="6642100" cy="19050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0533F-66B6-8642-A8ED-C1C687610144}"/>
              </a:ext>
            </a:extLst>
          </p:cNvPr>
          <p:cNvSpPr/>
          <p:nvPr/>
        </p:nvSpPr>
        <p:spPr>
          <a:xfrm>
            <a:off x="457200" y="6350000"/>
            <a:ext cx="76200" cy="19050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4F7306-5698-0D44-AFFC-84098764FC16}"/>
              </a:ext>
            </a:extLst>
          </p:cNvPr>
          <p:cNvSpPr txBox="1"/>
          <p:nvPr/>
        </p:nvSpPr>
        <p:spPr>
          <a:xfrm>
            <a:off x="812800" y="6629400"/>
            <a:ext cx="6096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b="1">
                <a:solidFill>
                  <a:srgbClr val="FFFFFF"/>
                </a:solidFill>
                <a:latin typeface="Arial"/>
                <a:cs typeface="Arial"/>
              </a:rPr>
              <a:t>兼容各种流量设置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4801C9-F20B-2043-9798-5CED6BDEA1F9}"/>
              </a:ext>
            </a:extLst>
          </p:cNvPr>
          <p:cNvSpPr txBox="1"/>
          <p:nvPr/>
        </p:nvSpPr>
        <p:spPr>
          <a:xfrm>
            <a:off x="812800" y="70612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00">
                <a:solidFill>
                  <a:srgbClr val="CEE2EC"/>
                </a:solidFill>
                <a:latin typeface="Arial"/>
                <a:cs typeface="Arial"/>
              </a:rPr>
              <a:t>一台 </a:t>
            </a:r>
            <a:r>
              <a:rPr lang="en-US" altLang="zh-CN" sz="1300">
                <a:solidFill>
                  <a:srgbClr val="CEE2EC"/>
                </a:solidFill>
                <a:latin typeface="Arial"/>
                <a:cs typeface="Arial"/>
              </a:rPr>
              <a:t>RUF-100 </a:t>
            </a:r>
            <a:r>
              <a:rPr lang="zh-CN" altLang="en-US" sz="1300">
                <a:solidFill>
                  <a:srgbClr val="CEE2EC"/>
                </a:solidFill>
                <a:latin typeface="Arial"/>
                <a:cs typeface="Arial"/>
              </a:rPr>
              <a:t>即可覆盖多种液体、管材与口径，灵活适配不同现场。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7D62A0-E9E3-A045-B598-32C306D2027B}"/>
              </a:ext>
            </a:extLst>
          </p:cNvPr>
          <p:cNvSpPr/>
          <p:nvPr/>
        </p:nvSpPr>
        <p:spPr>
          <a:xfrm>
            <a:off x="812800" y="7518400"/>
            <a:ext cx="1905000" cy="508000"/>
          </a:xfrm>
          <a:prstGeom prst="rect">
            <a:avLst/>
          </a:prstGeom>
          <a:solidFill>
            <a:srgbClr val="0A2E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B1AD51-E3B0-C24E-9989-F47D5DB77024}"/>
              </a:ext>
            </a:extLst>
          </p:cNvPr>
          <p:cNvSpPr/>
          <p:nvPr/>
        </p:nvSpPr>
        <p:spPr>
          <a:xfrm>
            <a:off x="812800" y="7518400"/>
            <a:ext cx="50800" cy="5080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FE91EF-EDBD-814A-9960-2964037AFD6F}"/>
              </a:ext>
            </a:extLst>
          </p:cNvPr>
          <p:cNvSpPr txBox="1"/>
          <p:nvPr/>
        </p:nvSpPr>
        <p:spPr>
          <a:xfrm>
            <a:off x="990600" y="75819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00">
                <a:solidFill>
                  <a:srgbClr val="8FB4CC"/>
                </a:solidFill>
                <a:latin typeface="Arial"/>
                <a:cs typeface="Arial"/>
              </a:rPr>
              <a:t>液体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8F4A0A-015A-B141-97B1-A7DE5DCA73DE}"/>
              </a:ext>
            </a:extLst>
          </p:cNvPr>
          <p:cNvSpPr txBox="1"/>
          <p:nvPr/>
        </p:nvSpPr>
        <p:spPr>
          <a:xfrm>
            <a:off x="990600" y="77724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00" b="1">
                <a:solidFill>
                  <a:srgbClr val="FFFFFF"/>
                </a:solidFill>
                <a:latin typeface="Arial"/>
                <a:cs typeface="Arial"/>
              </a:rPr>
              <a:t>水</a:t>
            </a:r>
            <a:r>
              <a:rPr lang="en-US" altLang="zh-CN" sz="130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zh-CN" altLang="en-US" sz="1300" b="1">
                <a:solidFill>
                  <a:srgbClr val="FFFFFF"/>
                </a:solidFill>
                <a:latin typeface="Arial"/>
                <a:cs typeface="Arial"/>
              </a:rPr>
              <a:t>油</a:t>
            </a:r>
            <a:r>
              <a:rPr lang="en-US" altLang="zh-CN" sz="130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zh-CN" altLang="en-US" sz="1300" b="1">
                <a:solidFill>
                  <a:srgbClr val="FFFFFF"/>
                </a:solidFill>
                <a:latin typeface="Arial"/>
                <a:cs typeface="Arial"/>
              </a:rPr>
              <a:t>化学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B29BC3-815B-614E-8F90-CA1A81018723}"/>
              </a:ext>
            </a:extLst>
          </p:cNvPr>
          <p:cNvSpPr/>
          <p:nvPr/>
        </p:nvSpPr>
        <p:spPr>
          <a:xfrm>
            <a:off x="2895600" y="7518400"/>
            <a:ext cx="1905000" cy="508000"/>
          </a:xfrm>
          <a:prstGeom prst="rect">
            <a:avLst/>
          </a:prstGeom>
          <a:solidFill>
            <a:srgbClr val="0A2E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E90F19-F76B-7C4A-8771-35E254049D65}"/>
              </a:ext>
            </a:extLst>
          </p:cNvPr>
          <p:cNvSpPr/>
          <p:nvPr/>
        </p:nvSpPr>
        <p:spPr>
          <a:xfrm>
            <a:off x="2895600" y="7518400"/>
            <a:ext cx="50800" cy="5080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AF45FF-6423-334E-9128-E9AAAAF26626}"/>
              </a:ext>
            </a:extLst>
          </p:cNvPr>
          <p:cNvSpPr txBox="1"/>
          <p:nvPr/>
        </p:nvSpPr>
        <p:spPr>
          <a:xfrm>
            <a:off x="3073400" y="75819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00">
                <a:solidFill>
                  <a:srgbClr val="8FB4CC"/>
                </a:solidFill>
                <a:latin typeface="Arial"/>
                <a:cs typeface="Arial"/>
              </a:rPr>
              <a:t>管材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228C720-E008-E141-A622-6CBF99CE2680}"/>
              </a:ext>
            </a:extLst>
          </p:cNvPr>
          <p:cNvSpPr txBox="1"/>
          <p:nvPr/>
        </p:nvSpPr>
        <p:spPr>
          <a:xfrm>
            <a:off x="3073400" y="77724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00" b="1">
                <a:solidFill>
                  <a:srgbClr val="FFFFFF"/>
                </a:solidFill>
                <a:latin typeface="Arial"/>
                <a:cs typeface="Arial"/>
              </a:rPr>
              <a:t>金属</a:t>
            </a:r>
            <a:r>
              <a:rPr lang="en-US" altLang="zh-CN" sz="130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lang="zh-CN" altLang="en-US" sz="1300" b="1">
                <a:solidFill>
                  <a:srgbClr val="FFFFFF"/>
                </a:solidFill>
                <a:latin typeface="Arial"/>
                <a:cs typeface="Arial"/>
              </a:rPr>
              <a:t>树脂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5C7A08-7B5F-EE40-9888-E586E4AEA469}"/>
              </a:ext>
            </a:extLst>
          </p:cNvPr>
          <p:cNvSpPr/>
          <p:nvPr/>
        </p:nvSpPr>
        <p:spPr>
          <a:xfrm>
            <a:off x="4978400" y="7518400"/>
            <a:ext cx="1905000" cy="508000"/>
          </a:xfrm>
          <a:prstGeom prst="rect">
            <a:avLst/>
          </a:prstGeom>
          <a:solidFill>
            <a:srgbClr val="0A2E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76A62F-5A26-7D47-9C7E-7AE456DB94E1}"/>
              </a:ext>
            </a:extLst>
          </p:cNvPr>
          <p:cNvSpPr/>
          <p:nvPr/>
        </p:nvSpPr>
        <p:spPr>
          <a:xfrm>
            <a:off x="4978400" y="7518400"/>
            <a:ext cx="50800" cy="5080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A28EB31-EE32-574D-B373-5A26DC7A4E7D}"/>
              </a:ext>
            </a:extLst>
          </p:cNvPr>
          <p:cNvSpPr txBox="1"/>
          <p:nvPr/>
        </p:nvSpPr>
        <p:spPr>
          <a:xfrm>
            <a:off x="5156200" y="75819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100">
                <a:solidFill>
                  <a:srgbClr val="8FB4CC"/>
                </a:solidFill>
                <a:latin typeface="Arial"/>
                <a:cs typeface="Arial"/>
              </a:rPr>
              <a:t>管径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BA0797-B3E4-374A-A793-075FDCBA7F58}"/>
              </a:ext>
            </a:extLst>
          </p:cNvPr>
          <p:cNvSpPr txBox="1"/>
          <p:nvPr/>
        </p:nvSpPr>
        <p:spPr>
          <a:xfrm>
            <a:off x="5156200" y="77724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300" b="1">
                <a:solidFill>
                  <a:srgbClr val="FFFFFF"/>
                </a:solidFill>
                <a:latin typeface="Arial"/>
                <a:cs typeface="Arial"/>
              </a:rPr>
              <a:t>DN8–DN50</a:t>
            </a:r>
            <a:endParaRPr lang="zh-CN" altLang="en-US" sz="13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FC15781-8096-5141-9925-922B5AF52BBF}"/>
              </a:ext>
            </a:extLst>
          </p:cNvPr>
          <p:cNvSpPr/>
          <p:nvPr/>
        </p:nvSpPr>
        <p:spPr>
          <a:xfrm>
            <a:off x="6769100" y="10287000"/>
            <a:ext cx="330200" cy="330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CN" sz="1100" b="1">
                <a:solidFill>
                  <a:srgbClr val="FFFFFF"/>
                </a:solidFill>
                <a:latin typeface="Arial"/>
                <a:cs typeface="Arial"/>
              </a:rPr>
              <a:t>04</a:t>
            </a:r>
            <a:endParaRPr lang="zh-CN" altLang="en-US" sz="11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9" name="s4_donut_outer">
            <a:extLst>
              <a:ext uri="{FF2B5EF4-FFF2-40B4-BE49-F238E27FC236}">
                <a16:creationId xmlns:a16="http://schemas.microsoft.com/office/drawing/2014/main" id="{C4634167-6C0D-4B4E-A9F2-4552D67BA470}"/>
              </a:ext>
            </a:extLst>
          </p:cNvPr>
          <p:cNvSpPr/>
          <p:nvPr/>
        </p:nvSpPr>
        <p:spPr>
          <a:xfrm>
            <a:off x="3403600" y="4521200"/>
            <a:ext cx="762000" cy="762000"/>
          </a:xfrm>
          <a:prstGeom prst="donu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s4_donut_inner">
            <a:extLst>
              <a:ext uri="{FF2B5EF4-FFF2-40B4-BE49-F238E27FC236}">
                <a16:creationId xmlns:a16="http://schemas.microsoft.com/office/drawing/2014/main" id="{0035CE5D-EF2E-A44C-866B-66DEA1400CA7}"/>
              </a:ext>
            </a:extLst>
          </p:cNvPr>
          <p:cNvSpPr/>
          <p:nvPr/>
        </p:nvSpPr>
        <p:spPr>
          <a:xfrm>
            <a:off x="3543300" y="4660900"/>
            <a:ext cx="482600" cy="482600"/>
          </a:xfrm>
          <a:prstGeom prst="donu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1" name="Graphic 71" descr="适用液体图标 水滴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" y="4495800"/>
            <a:ext cx="762000" cy="762000"/>
          </a:xfrm>
          <a:prstGeom prst="rect">
            <a:avLst/>
          </a:prstGeom>
        </p:spPr>
      </p:pic>
      <p:pic>
        <p:nvPicPr>
          <p:cNvPr id="72" name="Graphic 72" descr="兼容管径图标 量尺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6900" y="45212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49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93127DE7-F542-5C48-9D18-7AF024B47F41}"/>
              </a:ext>
            </a:extLst>
          </p:cNvPr>
          <p:cNvSpPr/>
          <p:nvPr/>
        </p:nvSpPr>
        <p:spPr>
          <a:xfrm>
            <a:off x="0" y="0"/>
            <a:ext cx="7556500" cy="9144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590B3FA-FC35-EC45-935E-8962C1C4ED53}"/>
              </a:ext>
            </a:extLst>
          </p:cNvPr>
          <p:cNvSpPr/>
          <p:nvPr/>
        </p:nvSpPr>
        <p:spPr>
          <a:xfrm>
            <a:off x="0" y="914400"/>
            <a:ext cx="75565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81AA8BC-B38C-4140-A5FC-3CF5F8C3B978}"/>
              </a:ext>
            </a:extLst>
          </p:cNvPr>
          <p:cNvSpPr txBox="1"/>
          <p:nvPr/>
        </p:nvSpPr>
        <p:spPr>
          <a:xfrm>
            <a:off x="457200" y="0"/>
            <a:ext cx="5461000" cy="91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2800" b="1">
                <a:solidFill>
                  <a:srgbClr val="FFFFFF"/>
                </a:solidFill>
                <a:latin typeface="Arial"/>
                <a:cs typeface="Arial"/>
              </a:rPr>
              <a:t>安装方式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4C50031-296B-FE4A-9D45-EA926C09985B}"/>
              </a:ext>
            </a:extLst>
          </p:cNvPr>
          <p:cNvSpPr txBox="1"/>
          <p:nvPr/>
        </p:nvSpPr>
        <p:spPr>
          <a:xfrm>
            <a:off x="457200" y="10312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000">
                <a:solidFill>
                  <a:srgbClr val="98A4AE"/>
                </a:solidFill>
                <a:latin typeface="Arial"/>
                <a:cs typeface="Arial"/>
              </a:rPr>
              <a:t>Rvision RUF-100  </a:t>
            </a:r>
            <a:r>
              <a:rPr lang="zh-CN" altLang="en-US" sz="1000">
                <a:solidFill>
                  <a:srgbClr val="98A4AE"/>
                </a:solidFill>
                <a:latin typeface="Arial"/>
                <a:cs typeface="Arial"/>
              </a:rPr>
              <a:t>外夹式超声波流量计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01A0C5F-21FD-014B-8EBC-4367488E081B}"/>
              </a:ext>
            </a:extLst>
          </p:cNvPr>
          <p:cNvSpPr/>
          <p:nvPr/>
        </p:nvSpPr>
        <p:spPr>
          <a:xfrm>
            <a:off x="457200" y="1244600"/>
            <a:ext cx="6642100" cy="5842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F06892E-2E93-004E-8815-F8784AE55B07}"/>
              </a:ext>
            </a:extLst>
          </p:cNvPr>
          <p:cNvSpPr/>
          <p:nvPr/>
        </p:nvSpPr>
        <p:spPr>
          <a:xfrm>
            <a:off x="457200" y="1244600"/>
            <a:ext cx="76200" cy="584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C0628EB-1EC3-CE48-BE92-AA7196561FED}"/>
              </a:ext>
            </a:extLst>
          </p:cNvPr>
          <p:cNvSpPr txBox="1"/>
          <p:nvPr/>
        </p:nvSpPr>
        <p:spPr>
          <a:xfrm>
            <a:off x="762000" y="1244600"/>
            <a:ext cx="63500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zh-CN" altLang="en-US" sz="1500" b="1">
                <a:solidFill>
                  <a:srgbClr val="FFFFFF"/>
                </a:solidFill>
                <a:latin typeface="Arial"/>
                <a:cs typeface="Arial"/>
              </a:rPr>
              <a:t>仅需一支螺丝刀即可完成安装  </a:t>
            </a:r>
            <a:r>
              <a:rPr lang="en-US" altLang="zh-CN" sz="1500" b="1">
                <a:solidFill>
                  <a:srgbClr val="FFFFFF"/>
                </a:solidFill>
                <a:latin typeface="Arial"/>
                <a:cs typeface="Arial"/>
              </a:rPr>
              <a:t>·  </a:t>
            </a:r>
            <a:r>
              <a:rPr lang="zh-CN" altLang="en-US" sz="1500" b="1">
                <a:solidFill>
                  <a:srgbClr val="FFFFFF"/>
                </a:solidFill>
                <a:latin typeface="Arial"/>
                <a:cs typeface="Arial"/>
              </a:rPr>
              <a:t>无需修改管线  </a:t>
            </a:r>
            <a:r>
              <a:rPr lang="en-US" altLang="zh-CN" sz="1500" b="1">
                <a:solidFill>
                  <a:srgbClr val="FFFFFF"/>
                </a:solidFill>
                <a:latin typeface="Arial"/>
                <a:cs typeface="Arial"/>
              </a:rPr>
              <a:t>·  </a:t>
            </a:r>
            <a:r>
              <a:rPr lang="zh-CN" altLang="en-US" sz="1500" b="1">
                <a:solidFill>
                  <a:srgbClr val="FFFFFF"/>
                </a:solidFill>
                <a:latin typeface="Arial"/>
                <a:cs typeface="Arial"/>
              </a:rPr>
              <a:t>无需停机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506114D-FCBC-024E-8E26-BAE02DAAEC6C}"/>
              </a:ext>
            </a:extLst>
          </p:cNvPr>
          <p:cNvSpPr/>
          <p:nvPr/>
        </p:nvSpPr>
        <p:spPr>
          <a:xfrm>
            <a:off x="457200" y="2082800"/>
            <a:ext cx="3238500" cy="1778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CD13332-4B00-864C-A556-C761F0AB7152}"/>
              </a:ext>
            </a:extLst>
          </p:cNvPr>
          <p:cNvSpPr/>
          <p:nvPr/>
        </p:nvSpPr>
        <p:spPr>
          <a:xfrm>
            <a:off x="457200" y="2082800"/>
            <a:ext cx="3238500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FA1EF64-4527-DA40-8094-221E6D3BD156}"/>
              </a:ext>
            </a:extLst>
          </p:cNvPr>
          <p:cNvSpPr/>
          <p:nvPr/>
        </p:nvSpPr>
        <p:spPr>
          <a:xfrm>
            <a:off x="457200" y="2159000"/>
            <a:ext cx="711200" cy="17018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3400" b="1">
                <a:solidFill>
                  <a:srgbClr val="FFFFFF"/>
                </a:solidFill>
              </a:rPr>
              <a:t>1</a:t>
            </a:r>
            <a:endParaRPr lang="zh-CN" altLang="en-US" sz="3400" b="1">
              <a:solidFill>
                <a:srgbClr val="FFFFFF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8C21E76-3A41-9043-88F0-AADEC5862338}"/>
              </a:ext>
            </a:extLst>
          </p:cNvPr>
          <p:cNvSpPr txBox="1"/>
          <p:nvPr/>
        </p:nvSpPr>
        <p:spPr>
          <a:xfrm>
            <a:off x="1346200" y="2311400"/>
            <a:ext cx="21717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0D3A5C"/>
                </a:solidFill>
                <a:latin typeface="Arial"/>
                <a:cs typeface="Arial"/>
              </a:rPr>
              <a:t>清洁管道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E25ACDE-62A9-E248-A80C-0E86C510EB24}"/>
              </a:ext>
            </a:extLst>
          </p:cNvPr>
          <p:cNvSpPr txBox="1"/>
          <p:nvPr/>
        </p:nvSpPr>
        <p:spPr>
          <a:xfrm>
            <a:off x="1346200" y="2667000"/>
            <a:ext cx="2171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确保管道表面无污垢、油漆、杂物等，保证夹持机构贴合。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BF1E70B-9CB3-214C-85C6-9F741D67D263}"/>
              </a:ext>
            </a:extLst>
          </p:cNvPr>
          <p:cNvSpPr/>
          <p:nvPr/>
        </p:nvSpPr>
        <p:spPr>
          <a:xfrm>
            <a:off x="3860800" y="2082800"/>
            <a:ext cx="3238500" cy="1778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20E1077-55EB-9A42-844E-965A5D474173}"/>
              </a:ext>
            </a:extLst>
          </p:cNvPr>
          <p:cNvSpPr/>
          <p:nvPr/>
        </p:nvSpPr>
        <p:spPr>
          <a:xfrm>
            <a:off x="3860800" y="2082800"/>
            <a:ext cx="3238500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C5A79A4-ADCE-7041-B1F8-2A2A6C0510C8}"/>
              </a:ext>
            </a:extLst>
          </p:cNvPr>
          <p:cNvSpPr/>
          <p:nvPr/>
        </p:nvSpPr>
        <p:spPr>
          <a:xfrm>
            <a:off x="3860800" y="2159000"/>
            <a:ext cx="711200" cy="17018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3400" b="1">
                <a:solidFill>
                  <a:srgbClr val="FFFFFF"/>
                </a:solidFill>
              </a:rPr>
              <a:t>2</a:t>
            </a:r>
            <a:endParaRPr lang="zh-CN" altLang="en-US" sz="3400" b="1">
              <a:solidFill>
                <a:srgbClr val="FFFFFF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7DBD66D-1A3B-0446-9074-925CDEB0CFD9}"/>
              </a:ext>
            </a:extLst>
          </p:cNvPr>
          <p:cNvSpPr txBox="1"/>
          <p:nvPr/>
        </p:nvSpPr>
        <p:spPr>
          <a:xfrm>
            <a:off x="4749800" y="2311400"/>
            <a:ext cx="21717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0D3A5C"/>
                </a:solidFill>
                <a:latin typeface="Arial"/>
                <a:cs typeface="Arial"/>
              </a:rPr>
              <a:t>安装夹持机构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AC595D3-E234-8043-936E-6846FEAF2229}"/>
              </a:ext>
            </a:extLst>
          </p:cNvPr>
          <p:cNvSpPr txBox="1"/>
          <p:nvPr/>
        </p:nvSpPr>
        <p:spPr>
          <a:xfrm>
            <a:off x="4749800" y="2667000"/>
            <a:ext cx="2171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将夹持机构包裹住清洁后的管道，拧紧螺丝，确保不松动。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219353E-794F-464A-AD89-75F294FBDA29}"/>
              </a:ext>
            </a:extLst>
          </p:cNvPr>
          <p:cNvSpPr/>
          <p:nvPr/>
        </p:nvSpPr>
        <p:spPr>
          <a:xfrm>
            <a:off x="457200" y="4025900"/>
            <a:ext cx="3238500" cy="1778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5DDFAF1-8DEE-284E-8975-54F916FA1AC6}"/>
              </a:ext>
            </a:extLst>
          </p:cNvPr>
          <p:cNvSpPr/>
          <p:nvPr/>
        </p:nvSpPr>
        <p:spPr>
          <a:xfrm>
            <a:off x="457200" y="4025900"/>
            <a:ext cx="3238500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C3D165B-E93C-4948-A47A-5FF90CCDD244}"/>
              </a:ext>
            </a:extLst>
          </p:cNvPr>
          <p:cNvSpPr/>
          <p:nvPr/>
        </p:nvSpPr>
        <p:spPr>
          <a:xfrm>
            <a:off x="457200" y="4102100"/>
            <a:ext cx="711200" cy="17018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3400" b="1">
                <a:solidFill>
                  <a:srgbClr val="FFFFFF"/>
                </a:solidFill>
              </a:rPr>
              <a:t>3</a:t>
            </a:r>
            <a:endParaRPr lang="zh-CN" altLang="en-US" sz="3400" b="1">
              <a:solidFill>
                <a:srgbClr val="FFFFFF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E6EC5B4-2763-0341-874A-3E72DF8C2392}"/>
              </a:ext>
            </a:extLst>
          </p:cNvPr>
          <p:cNvSpPr txBox="1"/>
          <p:nvPr/>
        </p:nvSpPr>
        <p:spPr>
          <a:xfrm>
            <a:off x="1346200" y="4254500"/>
            <a:ext cx="21717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0D3A5C"/>
                </a:solidFill>
                <a:latin typeface="Arial"/>
                <a:cs typeface="Arial"/>
              </a:rPr>
              <a:t>安装主机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7C7D047-3B11-0040-A876-6E2C81DE8CEE}"/>
              </a:ext>
            </a:extLst>
          </p:cNvPr>
          <p:cNvSpPr txBox="1"/>
          <p:nvPr/>
        </p:nvSpPr>
        <p:spPr>
          <a:xfrm>
            <a:off x="1346200" y="4610100"/>
            <a:ext cx="2171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将主机平放置于夹持机构上方，拧紧两颗螺丝固定。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267A450-E4A6-4B48-8896-5E87B395A074}"/>
              </a:ext>
            </a:extLst>
          </p:cNvPr>
          <p:cNvSpPr/>
          <p:nvPr/>
        </p:nvSpPr>
        <p:spPr>
          <a:xfrm>
            <a:off x="3860800" y="4025900"/>
            <a:ext cx="3238500" cy="17780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0DED3F2-F02C-AB42-8DB1-8224569A4CB6}"/>
              </a:ext>
            </a:extLst>
          </p:cNvPr>
          <p:cNvSpPr/>
          <p:nvPr/>
        </p:nvSpPr>
        <p:spPr>
          <a:xfrm>
            <a:off x="3860800" y="4025900"/>
            <a:ext cx="3238500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098B71B-1F2B-FE42-B90E-8665F0DB6874}"/>
              </a:ext>
            </a:extLst>
          </p:cNvPr>
          <p:cNvSpPr/>
          <p:nvPr/>
        </p:nvSpPr>
        <p:spPr>
          <a:xfrm>
            <a:off x="3860800" y="4102100"/>
            <a:ext cx="711200" cy="17018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zh-CN" sz="3400" b="1">
                <a:solidFill>
                  <a:srgbClr val="FFFFFF"/>
                </a:solidFill>
              </a:rPr>
              <a:t>4</a:t>
            </a:r>
            <a:endParaRPr lang="zh-CN" altLang="en-US" sz="3400" b="1">
              <a:solidFill>
                <a:srgbClr val="FFFFFF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6F161E5-B480-C740-B2DA-CFF68BD66C99}"/>
              </a:ext>
            </a:extLst>
          </p:cNvPr>
          <p:cNvSpPr txBox="1"/>
          <p:nvPr/>
        </p:nvSpPr>
        <p:spPr>
          <a:xfrm>
            <a:off x="4749800" y="4254500"/>
            <a:ext cx="21717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0D3A5C"/>
                </a:solidFill>
                <a:latin typeface="Arial"/>
                <a:cs typeface="Arial"/>
              </a:rPr>
              <a:t>接线并运行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F61DE4C-C1D4-A241-8975-36790F672599}"/>
              </a:ext>
            </a:extLst>
          </p:cNvPr>
          <p:cNvSpPr txBox="1"/>
          <p:nvPr/>
        </p:nvSpPr>
        <p:spPr>
          <a:xfrm>
            <a:off x="4749800" y="4610100"/>
            <a:ext cx="21717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取出航空线，对接插头并拧紧，接线后即可运行主机。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AC6606A-5AD7-0F43-A711-DE5A9BB74D7C}"/>
              </a:ext>
            </a:extLst>
          </p:cNvPr>
          <p:cNvSpPr/>
          <p:nvPr/>
        </p:nvSpPr>
        <p:spPr>
          <a:xfrm>
            <a:off x="457200" y="5969000"/>
            <a:ext cx="6642100" cy="2794000"/>
          </a:xfrm>
          <a:prstGeom prst="rect">
            <a:avLst/>
          </a:prstGeom>
          <a:solidFill>
            <a:srgbClr val="F4F8FB"/>
          </a:solidFill>
          <a:ln w="12700" cap="flat" cmpd="sng" algn="ctr">
            <a:solidFill>
              <a:srgbClr val="D6E4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DDD49EF-0BD4-7042-9C82-2D62D783B968}"/>
              </a:ext>
            </a:extLst>
          </p:cNvPr>
          <p:cNvSpPr/>
          <p:nvPr/>
        </p:nvSpPr>
        <p:spPr>
          <a:xfrm>
            <a:off x="457200" y="6197600"/>
            <a:ext cx="6096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F8398EE-BCEB-414B-9161-CBCD70622C19}"/>
              </a:ext>
            </a:extLst>
          </p:cNvPr>
          <p:cNvSpPr txBox="1"/>
          <p:nvPr/>
        </p:nvSpPr>
        <p:spPr>
          <a:xfrm>
            <a:off x="457200" y="63500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600" b="1">
                <a:solidFill>
                  <a:srgbClr val="18232F"/>
                </a:solidFill>
                <a:latin typeface="Arial"/>
                <a:cs typeface="Arial"/>
              </a:rPr>
              <a:t>安装效果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E6620B2-8951-8F4A-89D2-533CFA61FA85}"/>
              </a:ext>
            </a:extLst>
          </p:cNvPr>
          <p:cNvSpPr txBox="1"/>
          <p:nvPr/>
        </p:nvSpPr>
        <p:spPr>
          <a:xfrm>
            <a:off x="457200" y="6705600"/>
            <a:ext cx="4191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250">
                <a:solidFill>
                  <a:srgbClr val="44525E"/>
                </a:solidFill>
                <a:latin typeface="Arial"/>
                <a:cs typeface="Arial"/>
              </a:rPr>
              <a:t>主机与夹持机构外夹安装于既有管路，无需切管、不破坏管线，几分钟即可完成部署。</a:t>
            </a: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59F7F9FE-562F-0541-A015-060903E2F10C}"/>
              </a:ext>
            </a:extLst>
          </p:cNvPr>
          <p:cNvSpPr/>
          <p:nvPr/>
        </p:nvSpPr>
        <p:spPr>
          <a:xfrm>
            <a:off x="685800" y="7404100"/>
            <a:ext cx="203200" cy="203200"/>
          </a:xfrm>
          <a:prstGeom prst="ellipse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zh-CN" altLang="en-US"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67E8E429-D010-2348-8F94-7BA13C1B660D}"/>
              </a:ext>
            </a:extLst>
          </p:cNvPr>
          <p:cNvSpPr txBox="1"/>
          <p:nvPr/>
        </p:nvSpPr>
        <p:spPr>
          <a:xfrm>
            <a:off x="990600" y="7366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00" b="1">
                <a:solidFill>
                  <a:srgbClr val="18232F"/>
                </a:solidFill>
                <a:latin typeface="Arial"/>
                <a:cs typeface="Arial"/>
              </a:rPr>
              <a:t>无需切管停机</a:t>
            </a: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A7C011BA-1548-0F4F-97E6-495DCDBBB653}"/>
              </a:ext>
            </a:extLst>
          </p:cNvPr>
          <p:cNvSpPr/>
          <p:nvPr/>
        </p:nvSpPr>
        <p:spPr>
          <a:xfrm>
            <a:off x="685800" y="7785100"/>
            <a:ext cx="203200" cy="203200"/>
          </a:xfrm>
          <a:prstGeom prst="ellipse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zh-CN" altLang="en-US"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EFFD605-4EAD-864C-B51B-1ED961EAB505}"/>
              </a:ext>
            </a:extLst>
          </p:cNvPr>
          <p:cNvSpPr txBox="1"/>
          <p:nvPr/>
        </p:nvSpPr>
        <p:spPr>
          <a:xfrm>
            <a:off x="990600" y="7747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00" b="1">
                <a:solidFill>
                  <a:srgbClr val="18232F"/>
                </a:solidFill>
                <a:latin typeface="Arial"/>
                <a:cs typeface="Arial"/>
              </a:rPr>
              <a:t>不破坏原有管线</a:t>
            </a: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44336D75-314B-964D-85FA-01D53FDC7D3B}"/>
              </a:ext>
            </a:extLst>
          </p:cNvPr>
          <p:cNvSpPr/>
          <p:nvPr/>
        </p:nvSpPr>
        <p:spPr>
          <a:xfrm>
            <a:off x="685800" y="8166100"/>
            <a:ext cx="203200" cy="203200"/>
          </a:xfrm>
          <a:prstGeom prst="ellipse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zh-CN" altLang="en-US"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5AA3333-AE2A-9D43-A4BE-9E893F88FC3A}"/>
              </a:ext>
            </a:extLst>
          </p:cNvPr>
          <p:cNvSpPr txBox="1"/>
          <p:nvPr/>
        </p:nvSpPr>
        <p:spPr>
          <a:xfrm>
            <a:off x="990600" y="8128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CN" altLang="en-US" sz="1300" b="1">
                <a:solidFill>
                  <a:srgbClr val="18232F"/>
                </a:solidFill>
                <a:latin typeface="Arial"/>
                <a:cs typeface="Arial"/>
              </a:rPr>
              <a:t>几分钟快速部署</a:t>
            </a:r>
          </a:p>
        </p:txBody>
      </p:sp>
      <p:pic>
        <p:nvPicPr>
          <p:cNvPr id="72" name="Image 0" descr="/Users/jasber/Downloads/夹钳式超声波流量计/outputs/shot-explorer/ruishi-ruf100-cover-industrial/01-front-cover-industrial-cold-light.png">
            <a:extLst>
              <a:ext uri="{FF2B5EF4-FFF2-40B4-BE49-F238E27FC236}">
                <a16:creationId xmlns:a16="http://schemas.microsoft.com/office/drawing/2014/main" id="{8DD5227B-DFAB-5FF3-9F6C-0CD902DA99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04" t="10349" r="25097" b="16107"/>
          <a:stretch>
            <a:fillRect/>
          </a:stretch>
        </p:blipFill>
        <p:spPr>
          <a:xfrm>
            <a:off x="5172917" y="6507079"/>
            <a:ext cx="1503265" cy="3318317"/>
          </a:xfrm>
          <a:prstGeom prst="rect">
            <a:avLst/>
          </a:prstGeom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8BDFB65F-9D88-FC4F-8F9D-5D353C5100B2}"/>
              </a:ext>
            </a:extLst>
          </p:cNvPr>
          <p:cNvSpPr/>
          <p:nvPr/>
        </p:nvSpPr>
        <p:spPr>
          <a:xfrm>
            <a:off x="6769100" y="10287000"/>
            <a:ext cx="330200" cy="330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CN" sz="1100" b="1">
                <a:solidFill>
                  <a:srgbClr val="FFFFFF"/>
                </a:solidFill>
                <a:latin typeface="Arial"/>
                <a:cs typeface="Arial"/>
              </a:rPr>
              <a:t>05</a:t>
            </a:r>
            <a:endParaRPr lang="zh-CN" altLang="en-US" sz="1100" b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DB6665F-8928-D64B-B465-6A86FC50107F}"/>
              </a:ext>
            </a:extLst>
          </p:cNvPr>
          <p:cNvSpPr/>
          <p:nvPr/>
        </p:nvSpPr>
        <p:spPr>
          <a:xfrm>
            <a:off x="0" y="0"/>
            <a:ext cx="7556500" cy="9144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9EE929C-04EA-E343-ADC6-AEA94D09CE2D}"/>
              </a:ext>
            </a:extLst>
          </p:cNvPr>
          <p:cNvSpPr/>
          <p:nvPr/>
        </p:nvSpPr>
        <p:spPr>
          <a:xfrm>
            <a:off x="0" y="914400"/>
            <a:ext cx="75565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33D30D5-1831-504B-AAF7-164D843DE221}"/>
              </a:ext>
            </a:extLst>
          </p:cNvPr>
          <p:cNvSpPr txBox="1"/>
          <p:nvPr/>
        </p:nvSpPr>
        <p:spPr>
          <a:xfrm>
            <a:off x="457200" y="0"/>
            <a:ext cx="5080000" cy="914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2800" b="1">
                <a:solidFill>
                  <a:srgbClr val="FFFFFF"/>
                </a:solidFill>
                <a:latin typeface="Arial"/>
                <a:cs typeface="Arial"/>
              </a:rPr>
              <a:t>选型参数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D57E804-B90D-2942-8DBC-F8739007332B}"/>
              </a:ext>
            </a:extLst>
          </p:cNvPr>
          <p:cNvSpPr txBox="1"/>
          <p:nvPr/>
        </p:nvSpPr>
        <p:spPr>
          <a:xfrm>
            <a:off x="457200" y="10312400"/>
            <a:ext cx="5080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zh-CN" sz="1000">
                <a:solidFill>
                  <a:srgbClr val="98A4AE"/>
                </a:solidFill>
                <a:latin typeface="Arial"/>
                <a:cs typeface="Arial"/>
              </a:rPr>
              <a:t>Rvision RUF-100  </a:t>
            </a:r>
            <a:r>
              <a:rPr lang="zh-CN" altLang="en-US" sz="1000">
                <a:solidFill>
                  <a:srgbClr val="98A4AE"/>
                </a:solidFill>
                <a:latin typeface="Arial"/>
                <a:cs typeface="Arial"/>
              </a:rPr>
              <a:t>外夹式超声波流量计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FE2B13B-E77D-374B-A2FE-E33D5FE6B3B8}"/>
              </a:ext>
            </a:extLst>
          </p:cNvPr>
          <p:cNvSpPr/>
          <p:nvPr/>
        </p:nvSpPr>
        <p:spPr>
          <a:xfrm>
            <a:off x="457200" y="1219200"/>
            <a:ext cx="6096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903D07A-C7CC-8C40-8848-2706C92ABE21}"/>
              </a:ext>
            </a:extLst>
          </p:cNvPr>
          <p:cNvSpPr txBox="1"/>
          <p:nvPr/>
        </p:nvSpPr>
        <p:spPr>
          <a:xfrm>
            <a:off x="457200" y="1371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b="1">
                <a:solidFill>
                  <a:srgbClr val="18232F"/>
                </a:solidFill>
                <a:latin typeface="Arial"/>
                <a:cs typeface="Arial"/>
              </a:rPr>
              <a:t>产品阵容 </a:t>
            </a:r>
            <a:r>
              <a:rPr lang="en-US" altLang="zh-CN" b="1">
                <a:solidFill>
                  <a:srgbClr val="18232F"/>
                </a:solidFill>
                <a:latin typeface="Arial"/>
                <a:cs typeface="Arial"/>
              </a:rPr>
              <a:t>· </a:t>
            </a:r>
            <a:r>
              <a:rPr lang="zh-CN" altLang="en-US" b="1">
                <a:solidFill>
                  <a:srgbClr val="18232F"/>
                </a:solidFill>
                <a:latin typeface="Arial"/>
                <a:cs typeface="Arial"/>
              </a:rPr>
              <a:t>四款主机覆盖 </a:t>
            </a:r>
            <a:r>
              <a:rPr lang="en-US" altLang="zh-CN" b="1">
                <a:solidFill>
                  <a:srgbClr val="18232F"/>
                </a:solidFill>
                <a:latin typeface="Arial"/>
                <a:cs typeface="Arial"/>
              </a:rPr>
              <a:t>DN8–DN50</a:t>
            </a:r>
            <a:endParaRPr lang="zh-CN" altLang="en-US" b="1">
              <a:solidFill>
                <a:srgbClr val="18232F"/>
              </a:solidFill>
              <a:latin typeface="Arial"/>
              <a:cs typeface="Arial"/>
            </a:endParaRPr>
          </a:p>
        </p:txBody>
      </p:sp>
      <p:graphicFrame>
        <p:nvGraphicFramePr>
          <p:cNvPr id="60" name="表格 59">
            <a:extLst>
              <a:ext uri="{FF2B5EF4-FFF2-40B4-BE49-F238E27FC236}">
                <a16:creationId xmlns:a16="http://schemas.microsoft.com/office/drawing/2014/main" id="{837C3C4E-E8E2-A441-B56F-C83C30F7B2F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854200"/>
          <a:ext cx="6642100" cy="218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00">
                  <a:extLst>
                    <a:ext uri="{9D8B030D-6E8A-4147-A177-3AD203B41FA5}">
                      <a16:colId xmlns:a16="http://schemas.microsoft.com/office/drawing/2014/main" val="1894497078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52322674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18424746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359357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83068907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主机型号</a:t>
                      </a:r>
                    </a:p>
                  </a:txBody>
                  <a:tcPr anchor="ctr">
                    <a:solidFill>
                      <a:srgbClr val="0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RUF-100-10</a:t>
                      </a:r>
                    </a:p>
                  </a:txBody>
                  <a:tcPr anchor="ctr">
                    <a:solidFill>
                      <a:srgbClr val="0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RUF-100-20</a:t>
                      </a:r>
                    </a:p>
                  </a:txBody>
                  <a:tcPr anchor="ctr">
                    <a:solidFill>
                      <a:srgbClr val="0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RUF-100-32</a:t>
                      </a:r>
                    </a:p>
                  </a:txBody>
                  <a:tcPr anchor="ctr">
                    <a:solidFill>
                      <a:srgbClr val="0D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RUF-100-50</a:t>
                      </a:r>
                    </a:p>
                  </a:txBody>
                  <a:tcPr anchor="ctr">
                    <a:solidFill>
                      <a:srgbClr val="0D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55008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0D3A5C"/>
                          </a:solidFill>
                          <a:latin typeface="Arial"/>
                          <a:cs typeface="Arial"/>
                        </a:rPr>
                        <a:t>夹持机构</a:t>
                      </a:r>
                    </a:p>
                  </a:txBody>
                  <a:tcPr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DN8 / DN10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DN15 / DN20 / DN25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DN32 / DN40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DN50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7477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0D3A5C"/>
                          </a:solidFill>
                          <a:latin typeface="Arial"/>
                          <a:cs typeface="Arial"/>
                        </a:rPr>
                        <a:t>适配管道外径</a:t>
                      </a:r>
                    </a:p>
                  </a:txBody>
                  <a:tcPr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Φ10–22 mm</a:t>
                      </a:r>
                    </a:p>
                  </a:txBody>
                  <a:tcPr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Φ22–37 mm</a:t>
                      </a:r>
                    </a:p>
                  </a:txBody>
                  <a:tcPr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Φ37–52 mm</a:t>
                      </a:r>
                    </a:p>
                  </a:txBody>
                  <a:tcPr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Φ52–65 mm</a:t>
                      </a:r>
                    </a:p>
                  </a:txBody>
                  <a:tcPr anchor="ctr"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4832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0D3A5C"/>
                          </a:solidFill>
                          <a:latin typeface="Arial"/>
                          <a:cs typeface="Arial"/>
                        </a:rPr>
                        <a:t>最大额定流量</a:t>
                      </a:r>
                    </a:p>
                  </a:txBody>
                  <a:tcPr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20 / 30 L/min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60 / 100 L/min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200 / 300 L/min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400 / 600 L/min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42901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b="1">
                          <a:solidFill>
                            <a:srgbClr val="0D3A5C"/>
                          </a:solidFill>
                          <a:latin typeface="Arial"/>
                          <a:cs typeface="Arial"/>
                        </a:rPr>
                        <a:t>切断流量(可调)</a:t>
                      </a:r>
                    </a:p>
                  </a:txBody>
                  <a:tcPr anchor="ctr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0.5 L/min</a:t>
                      </a:r>
                    </a:p>
                  </a:txBody>
                  <a:tcPr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1.5 L/min</a:t>
                      </a:r>
                    </a:p>
                  </a:txBody>
                  <a:tcPr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3 L/min</a:t>
                      </a:r>
                    </a:p>
                  </a:txBody>
                  <a:tcPr anchor="ctr"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rgbClr val="34414C"/>
                          </a:solidFill>
                          <a:latin typeface="Arial"/>
                          <a:cs typeface="Arial"/>
                        </a:rPr>
                        <a:t>15 L/min</a:t>
                      </a:r>
                    </a:p>
                  </a:txBody>
                  <a:tcPr anchor="ctr"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645833"/>
                  </a:ext>
                </a:extLst>
              </a:tr>
            </a:tbl>
          </a:graphicData>
        </a:graphic>
      </p:graphicFrame>
      <p:sp>
        <p:nvSpPr>
          <p:cNvPr id="61" name="矩形 60">
            <a:extLst>
              <a:ext uri="{FF2B5EF4-FFF2-40B4-BE49-F238E27FC236}">
                <a16:creationId xmlns:a16="http://schemas.microsoft.com/office/drawing/2014/main" id="{BFC45FF9-084B-1B46-929E-285C3A55DA98}"/>
              </a:ext>
            </a:extLst>
          </p:cNvPr>
          <p:cNvSpPr/>
          <p:nvPr/>
        </p:nvSpPr>
        <p:spPr>
          <a:xfrm>
            <a:off x="457200" y="4572000"/>
            <a:ext cx="6096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87966DF-733B-0D4D-815B-39E81FAA043E}"/>
              </a:ext>
            </a:extLst>
          </p:cNvPr>
          <p:cNvSpPr txBox="1"/>
          <p:nvPr/>
        </p:nvSpPr>
        <p:spPr>
          <a:xfrm>
            <a:off x="457200" y="47244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b="1">
                <a:solidFill>
                  <a:srgbClr val="18232F"/>
                </a:solidFill>
                <a:latin typeface="Arial"/>
                <a:cs typeface="Arial"/>
              </a:rPr>
              <a:t>通用规格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7BD2E90-63B8-A44E-BB2E-A1BFD7A89BF0}"/>
              </a:ext>
            </a:extLst>
          </p:cNvPr>
          <p:cNvSpPr/>
          <p:nvPr/>
        </p:nvSpPr>
        <p:spPr>
          <a:xfrm>
            <a:off x="457200" y="5105400"/>
            <a:ext cx="3314700" cy="393700"/>
          </a:xfrm>
          <a:prstGeom prst="rect">
            <a:avLst/>
          </a:prstGeom>
          <a:solidFill>
            <a:srgbClr val="F4F8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E29907D-8322-5B41-BE73-3E80004CA51A}"/>
              </a:ext>
            </a:extLst>
          </p:cNvPr>
          <p:cNvSpPr/>
          <p:nvPr/>
        </p:nvSpPr>
        <p:spPr>
          <a:xfrm>
            <a:off x="457200" y="51054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32AA9799-0F0D-1C4E-9A7A-8E225267C735}"/>
              </a:ext>
            </a:extLst>
          </p:cNvPr>
          <p:cNvSpPr txBox="1"/>
          <p:nvPr/>
        </p:nvSpPr>
        <p:spPr>
          <a:xfrm>
            <a:off x="660400" y="51054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支持管道材质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8E422D9E-3BA1-3F4C-B95B-634F4EB77F95}"/>
              </a:ext>
            </a:extLst>
          </p:cNvPr>
          <p:cNvSpPr txBox="1"/>
          <p:nvPr/>
        </p:nvSpPr>
        <p:spPr>
          <a:xfrm>
            <a:off x="1981200" y="51054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CN" altLang="en-US" sz="1150">
                <a:solidFill>
                  <a:srgbClr val="34414C"/>
                </a:solidFill>
                <a:latin typeface="Arial"/>
                <a:cs typeface="Arial"/>
              </a:rPr>
              <a:t>金属管 </a:t>
            </a:r>
            <a:r>
              <a:rPr lang="en-US" altLang="zh-CN" sz="1150">
                <a:solidFill>
                  <a:srgbClr val="34414C"/>
                </a:solidFill>
                <a:latin typeface="Arial"/>
                <a:cs typeface="Arial"/>
              </a:rPr>
              <a:t>/ </a:t>
            </a:r>
            <a:r>
              <a:rPr lang="zh-CN" altLang="en-US" sz="1150">
                <a:solidFill>
                  <a:srgbClr val="34414C"/>
                </a:solidFill>
                <a:latin typeface="Arial"/>
                <a:cs typeface="Arial"/>
              </a:rPr>
              <a:t>树脂管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0484555D-6504-FD4B-B31D-CE6A615C07DA}"/>
              </a:ext>
            </a:extLst>
          </p:cNvPr>
          <p:cNvSpPr/>
          <p:nvPr/>
        </p:nvSpPr>
        <p:spPr>
          <a:xfrm>
            <a:off x="3784600" y="5105400"/>
            <a:ext cx="3314700" cy="393700"/>
          </a:xfrm>
          <a:prstGeom prst="rect">
            <a:avLst/>
          </a:prstGeom>
          <a:solidFill>
            <a:srgbClr val="EF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750FB73-3360-DA43-BB50-50F54FA746D0}"/>
              </a:ext>
            </a:extLst>
          </p:cNvPr>
          <p:cNvSpPr/>
          <p:nvPr/>
        </p:nvSpPr>
        <p:spPr>
          <a:xfrm>
            <a:off x="3784600" y="51054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0879991-88C5-E049-8B44-D05F6A4B0B17}"/>
              </a:ext>
            </a:extLst>
          </p:cNvPr>
          <p:cNvSpPr txBox="1"/>
          <p:nvPr/>
        </p:nvSpPr>
        <p:spPr>
          <a:xfrm>
            <a:off x="3987800" y="51054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支持的流体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C0BB4ADC-6245-974B-81E4-1365294B1EC0}"/>
              </a:ext>
            </a:extLst>
          </p:cNvPr>
          <p:cNvSpPr txBox="1"/>
          <p:nvPr/>
        </p:nvSpPr>
        <p:spPr>
          <a:xfrm>
            <a:off x="5308600" y="51054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CN" sz="1150" dirty="0">
                <a:solidFill>
                  <a:srgbClr val="34414C"/>
                </a:solidFill>
                <a:latin typeface="Arial"/>
              </a:rPr>
              <a:t>水（含DI）/油/化学试剂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9D41B2C6-6DE9-3643-B7A5-08EAF7B1B740}"/>
              </a:ext>
            </a:extLst>
          </p:cNvPr>
          <p:cNvSpPr/>
          <p:nvPr/>
        </p:nvSpPr>
        <p:spPr>
          <a:xfrm>
            <a:off x="457200" y="5511800"/>
            <a:ext cx="3314700" cy="393700"/>
          </a:xfrm>
          <a:prstGeom prst="rect">
            <a:avLst/>
          </a:prstGeom>
          <a:solidFill>
            <a:srgbClr val="F4F8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297AE39-A50A-254A-B23A-C66DC38EF248}"/>
              </a:ext>
            </a:extLst>
          </p:cNvPr>
          <p:cNvSpPr/>
          <p:nvPr/>
        </p:nvSpPr>
        <p:spPr>
          <a:xfrm>
            <a:off x="457200" y="55118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8A5D02F-30B0-D54A-AF9B-829B96997B22}"/>
              </a:ext>
            </a:extLst>
          </p:cNvPr>
          <p:cNvSpPr txBox="1"/>
          <p:nvPr/>
        </p:nvSpPr>
        <p:spPr>
          <a:xfrm>
            <a:off x="660400" y="55118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管道表面温度</a:t>
            </a: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AB9BCDD4-0392-A14A-B3F6-A4832FB8324F}"/>
              </a:ext>
            </a:extLst>
          </p:cNvPr>
          <p:cNvSpPr txBox="1"/>
          <p:nvPr/>
        </p:nvSpPr>
        <p:spPr>
          <a:xfrm>
            <a:off x="1981200" y="55118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CN" sz="1150">
                <a:solidFill>
                  <a:srgbClr val="34414C"/>
                </a:solidFill>
                <a:latin typeface="Arial"/>
                <a:cs typeface="Arial"/>
              </a:rPr>
              <a:t>0–85 °C</a:t>
            </a:r>
            <a:r>
              <a:rPr lang="zh-CN" altLang="en-US" sz="1150">
                <a:solidFill>
                  <a:srgbClr val="34414C"/>
                </a:solidFill>
                <a:latin typeface="Arial"/>
                <a:cs typeface="Arial"/>
              </a:rPr>
              <a:t>（不结冰）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FD5713D9-1A10-0642-8E39-3E9968D45C77}"/>
              </a:ext>
            </a:extLst>
          </p:cNvPr>
          <p:cNvSpPr/>
          <p:nvPr/>
        </p:nvSpPr>
        <p:spPr>
          <a:xfrm>
            <a:off x="3784600" y="5511800"/>
            <a:ext cx="3314700" cy="393700"/>
          </a:xfrm>
          <a:prstGeom prst="rect">
            <a:avLst/>
          </a:prstGeom>
          <a:solidFill>
            <a:srgbClr val="EF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1407E38-267A-3F48-A794-FBF16BEC1D8F}"/>
              </a:ext>
            </a:extLst>
          </p:cNvPr>
          <p:cNvSpPr/>
          <p:nvPr/>
        </p:nvSpPr>
        <p:spPr>
          <a:xfrm>
            <a:off x="3784600" y="55118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86CB19BD-FFDF-5446-8012-3E1B79B5E8E7}"/>
              </a:ext>
            </a:extLst>
          </p:cNvPr>
          <p:cNvSpPr txBox="1"/>
          <p:nvPr/>
        </p:nvSpPr>
        <p:spPr>
          <a:xfrm>
            <a:off x="3987800" y="55118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重复精度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A3F26E85-34D4-2947-97BA-F7A36FF42A4F}"/>
              </a:ext>
            </a:extLst>
          </p:cNvPr>
          <p:cNvSpPr txBox="1"/>
          <p:nvPr/>
        </p:nvSpPr>
        <p:spPr>
          <a:xfrm>
            <a:off x="5308600" y="55118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CN" sz="1150">
                <a:solidFill>
                  <a:srgbClr val="34414C"/>
                </a:solidFill>
                <a:latin typeface="Arial"/>
                <a:cs typeface="Arial"/>
              </a:rPr>
              <a:t>1% FS</a:t>
            </a:r>
            <a:endParaRPr lang="zh-CN" altLang="en-US" sz="1150">
              <a:solidFill>
                <a:srgbClr val="34414C"/>
              </a:solidFill>
              <a:latin typeface="Arial"/>
              <a:cs typeface="Arial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34D7C0C3-3F51-AA49-82CC-1C08C47128AD}"/>
              </a:ext>
            </a:extLst>
          </p:cNvPr>
          <p:cNvSpPr/>
          <p:nvPr/>
        </p:nvSpPr>
        <p:spPr>
          <a:xfrm>
            <a:off x="457200" y="5918200"/>
            <a:ext cx="3314700" cy="393700"/>
          </a:xfrm>
          <a:prstGeom prst="rect">
            <a:avLst/>
          </a:prstGeom>
          <a:solidFill>
            <a:srgbClr val="F4F8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29B4BC8F-6127-D648-B3C3-C6E81B7E464B}"/>
              </a:ext>
            </a:extLst>
          </p:cNvPr>
          <p:cNvSpPr/>
          <p:nvPr/>
        </p:nvSpPr>
        <p:spPr>
          <a:xfrm>
            <a:off x="457200" y="59182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8C9CB25C-2CB3-3A47-B978-6CEEDAA6589E}"/>
              </a:ext>
            </a:extLst>
          </p:cNvPr>
          <p:cNvSpPr txBox="1"/>
          <p:nvPr/>
        </p:nvSpPr>
        <p:spPr>
          <a:xfrm>
            <a:off x="660400" y="59182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显示方式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8441EF62-24B3-C247-AA51-8BF3D8E390FC}"/>
              </a:ext>
            </a:extLst>
          </p:cNvPr>
          <p:cNvSpPr txBox="1"/>
          <p:nvPr/>
        </p:nvSpPr>
        <p:spPr>
          <a:xfrm>
            <a:off x="1981200" y="59182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CN" sz="1150">
                <a:solidFill>
                  <a:srgbClr val="34414C"/>
                </a:solidFill>
                <a:latin typeface="Arial"/>
                <a:cs typeface="Arial"/>
              </a:rPr>
              <a:t>OLED 128×64 </a:t>
            </a:r>
            <a:r>
              <a:rPr lang="zh-CN" altLang="en-US" sz="1150">
                <a:solidFill>
                  <a:srgbClr val="34414C"/>
                </a:solidFill>
                <a:latin typeface="Arial"/>
                <a:cs typeface="Arial"/>
              </a:rPr>
              <a:t>点阵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74C54528-4A33-994D-8EFE-475454739C9A}"/>
              </a:ext>
            </a:extLst>
          </p:cNvPr>
          <p:cNvSpPr/>
          <p:nvPr/>
        </p:nvSpPr>
        <p:spPr>
          <a:xfrm>
            <a:off x="3784600" y="5918200"/>
            <a:ext cx="3314700" cy="393700"/>
          </a:xfrm>
          <a:prstGeom prst="rect">
            <a:avLst/>
          </a:prstGeom>
          <a:solidFill>
            <a:srgbClr val="EF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A593E38-4C29-3A41-9E7B-FAC27BC3056C}"/>
              </a:ext>
            </a:extLst>
          </p:cNvPr>
          <p:cNvSpPr/>
          <p:nvPr/>
        </p:nvSpPr>
        <p:spPr>
          <a:xfrm>
            <a:off x="3784600" y="59182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65AA818A-74E9-D549-8919-0A07D260F64C}"/>
              </a:ext>
            </a:extLst>
          </p:cNvPr>
          <p:cNvSpPr txBox="1"/>
          <p:nvPr/>
        </p:nvSpPr>
        <p:spPr>
          <a:xfrm>
            <a:off x="3987800" y="59182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累计流量单位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31DED8D-FD98-1F4C-926B-9ECCBDF99A33}"/>
              </a:ext>
            </a:extLst>
          </p:cNvPr>
          <p:cNvSpPr txBox="1"/>
          <p:nvPr/>
        </p:nvSpPr>
        <p:spPr>
          <a:xfrm>
            <a:off x="5308600" y="59182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CN" sz="1150">
                <a:solidFill>
                  <a:srgbClr val="34414C"/>
                </a:solidFill>
                <a:latin typeface="Arial"/>
                <a:cs typeface="Arial"/>
              </a:rPr>
              <a:t>mL / L / m³</a:t>
            </a:r>
            <a:endParaRPr lang="zh-CN" altLang="en-US" sz="1150">
              <a:solidFill>
                <a:srgbClr val="34414C"/>
              </a:solidFill>
              <a:latin typeface="Arial"/>
              <a:cs typeface="Arial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3335EE8-789D-7342-8FB4-D15E754B8AF8}"/>
              </a:ext>
            </a:extLst>
          </p:cNvPr>
          <p:cNvSpPr/>
          <p:nvPr/>
        </p:nvSpPr>
        <p:spPr>
          <a:xfrm>
            <a:off x="457200" y="6324600"/>
            <a:ext cx="3314700" cy="393700"/>
          </a:xfrm>
          <a:prstGeom prst="rect">
            <a:avLst/>
          </a:prstGeom>
          <a:solidFill>
            <a:srgbClr val="F4F8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87A3172-BA21-E24A-9A63-2A164AB15ACA}"/>
              </a:ext>
            </a:extLst>
          </p:cNvPr>
          <p:cNvSpPr/>
          <p:nvPr/>
        </p:nvSpPr>
        <p:spPr>
          <a:xfrm>
            <a:off x="457200" y="63246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68138487-5550-F741-9028-6B223A365F94}"/>
              </a:ext>
            </a:extLst>
          </p:cNvPr>
          <p:cNvSpPr txBox="1"/>
          <p:nvPr/>
        </p:nvSpPr>
        <p:spPr>
          <a:xfrm>
            <a:off x="660400" y="63246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输出</a:t>
            </a: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7F6A00DD-5448-1F45-A328-D792CDD957D9}"/>
              </a:ext>
            </a:extLst>
          </p:cNvPr>
          <p:cNvSpPr txBox="1"/>
          <p:nvPr/>
        </p:nvSpPr>
        <p:spPr>
          <a:xfrm>
            <a:off x="1981200" y="63246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50" dirty="0">
                <a:solidFill>
                  <a:srgbClr val="34414C"/>
                </a:solidFill>
                <a:latin typeface="Arial"/>
              </a:rPr>
              <a:t>NPN/PNP·4–20mA·报警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9309B6BD-989A-7443-A812-770FA2C70A43}"/>
              </a:ext>
            </a:extLst>
          </p:cNvPr>
          <p:cNvSpPr/>
          <p:nvPr/>
        </p:nvSpPr>
        <p:spPr>
          <a:xfrm>
            <a:off x="3784600" y="6324600"/>
            <a:ext cx="3314700" cy="393700"/>
          </a:xfrm>
          <a:prstGeom prst="rect">
            <a:avLst/>
          </a:prstGeom>
          <a:solidFill>
            <a:srgbClr val="EF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EE8D0951-D580-CD4D-80CE-55BACD3828C8}"/>
              </a:ext>
            </a:extLst>
          </p:cNvPr>
          <p:cNvSpPr/>
          <p:nvPr/>
        </p:nvSpPr>
        <p:spPr>
          <a:xfrm>
            <a:off x="3784600" y="63246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57578A8-B575-1F41-9C36-EF8133A1441C}"/>
              </a:ext>
            </a:extLst>
          </p:cNvPr>
          <p:cNvSpPr txBox="1"/>
          <p:nvPr/>
        </p:nvSpPr>
        <p:spPr>
          <a:xfrm>
            <a:off x="3987800" y="63246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通讯协议</a:t>
            </a: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A314D130-1CAF-2C4E-B1D2-92C12EA79179}"/>
              </a:ext>
            </a:extLst>
          </p:cNvPr>
          <p:cNvSpPr txBox="1"/>
          <p:nvPr/>
        </p:nvSpPr>
        <p:spPr>
          <a:xfrm>
            <a:off x="5308600" y="63246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CN" sz="1150">
                <a:solidFill>
                  <a:srgbClr val="34414C"/>
                </a:solidFill>
                <a:latin typeface="Arial"/>
                <a:cs typeface="Arial"/>
              </a:rPr>
              <a:t>MODBUS</a:t>
            </a:r>
            <a:endParaRPr lang="zh-CN" altLang="en-US" sz="1150">
              <a:solidFill>
                <a:srgbClr val="34414C"/>
              </a:solidFill>
              <a:latin typeface="Arial"/>
              <a:cs typeface="Arial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2FFB4798-A319-C14F-8CF6-D1C6C73069F3}"/>
              </a:ext>
            </a:extLst>
          </p:cNvPr>
          <p:cNvSpPr/>
          <p:nvPr/>
        </p:nvSpPr>
        <p:spPr>
          <a:xfrm>
            <a:off x="457200" y="6731000"/>
            <a:ext cx="3314700" cy="393700"/>
          </a:xfrm>
          <a:prstGeom prst="rect">
            <a:avLst/>
          </a:prstGeom>
          <a:solidFill>
            <a:srgbClr val="F4F8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22CF400B-BB94-EB44-A7C8-C6E2C7FD2C89}"/>
              </a:ext>
            </a:extLst>
          </p:cNvPr>
          <p:cNvSpPr/>
          <p:nvPr/>
        </p:nvSpPr>
        <p:spPr>
          <a:xfrm>
            <a:off x="457200" y="67310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BD9F0E9C-4479-1446-AD9E-F32B98A5D18B}"/>
              </a:ext>
            </a:extLst>
          </p:cNvPr>
          <p:cNvSpPr txBox="1"/>
          <p:nvPr/>
        </p:nvSpPr>
        <p:spPr>
          <a:xfrm>
            <a:off x="660400" y="67310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电源电压</a:t>
            </a: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45A9391A-94C0-AF4D-A430-AEE81B4B4AED}"/>
              </a:ext>
            </a:extLst>
          </p:cNvPr>
          <p:cNvSpPr txBox="1"/>
          <p:nvPr/>
        </p:nvSpPr>
        <p:spPr>
          <a:xfrm>
            <a:off x="1981200" y="67310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CN" sz="1150">
                <a:solidFill>
                  <a:srgbClr val="34414C"/>
                </a:solidFill>
                <a:latin typeface="Arial"/>
                <a:cs typeface="Arial"/>
              </a:rPr>
              <a:t>10–26 V DC</a:t>
            </a:r>
            <a:endParaRPr lang="zh-CN" altLang="en-US" sz="1150">
              <a:solidFill>
                <a:srgbClr val="34414C"/>
              </a:solidFill>
              <a:latin typeface="Arial"/>
              <a:cs typeface="Arial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D995EEAF-D8E9-F440-A6C3-9423C9E0F47D}"/>
              </a:ext>
            </a:extLst>
          </p:cNvPr>
          <p:cNvSpPr/>
          <p:nvPr/>
        </p:nvSpPr>
        <p:spPr>
          <a:xfrm>
            <a:off x="3784600" y="6731000"/>
            <a:ext cx="3314700" cy="393700"/>
          </a:xfrm>
          <a:prstGeom prst="rect">
            <a:avLst/>
          </a:prstGeom>
          <a:solidFill>
            <a:srgbClr val="EF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FC986B63-1906-3E48-8408-4E2120D0448A}"/>
              </a:ext>
            </a:extLst>
          </p:cNvPr>
          <p:cNvSpPr/>
          <p:nvPr/>
        </p:nvSpPr>
        <p:spPr>
          <a:xfrm>
            <a:off x="3784600" y="67310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FABFCD00-3C13-C343-B965-192F1537657F}"/>
              </a:ext>
            </a:extLst>
          </p:cNvPr>
          <p:cNvSpPr txBox="1"/>
          <p:nvPr/>
        </p:nvSpPr>
        <p:spPr>
          <a:xfrm>
            <a:off x="3987800" y="67310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电流消耗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FB4723AD-3540-D548-B2CB-4E16D6EC7D6E}"/>
              </a:ext>
            </a:extLst>
          </p:cNvPr>
          <p:cNvSpPr txBox="1"/>
          <p:nvPr/>
        </p:nvSpPr>
        <p:spPr>
          <a:xfrm>
            <a:off x="5308600" y="67310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CN" sz="1150">
                <a:solidFill>
                  <a:srgbClr val="34414C"/>
                </a:solidFill>
                <a:latin typeface="Arial"/>
                <a:cs typeface="Arial"/>
              </a:rPr>
              <a:t>≤ 100 mA</a:t>
            </a:r>
            <a:endParaRPr lang="zh-CN" altLang="en-US" sz="1150">
              <a:solidFill>
                <a:srgbClr val="34414C"/>
              </a:solidFill>
              <a:latin typeface="Arial"/>
              <a:cs typeface="Arial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3DF46FEF-7B31-CF4D-BC51-5AB6C186A34B}"/>
              </a:ext>
            </a:extLst>
          </p:cNvPr>
          <p:cNvSpPr/>
          <p:nvPr/>
        </p:nvSpPr>
        <p:spPr>
          <a:xfrm>
            <a:off x="457200" y="7137400"/>
            <a:ext cx="3314700" cy="393700"/>
          </a:xfrm>
          <a:prstGeom prst="rect">
            <a:avLst/>
          </a:prstGeom>
          <a:solidFill>
            <a:srgbClr val="F4F8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4E366AFB-152E-B14E-BCBB-BC6017B65C31}"/>
              </a:ext>
            </a:extLst>
          </p:cNvPr>
          <p:cNvSpPr/>
          <p:nvPr/>
        </p:nvSpPr>
        <p:spPr>
          <a:xfrm>
            <a:off x="457200" y="71374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6F56110C-4915-4948-9DEB-C18541B4CAB3}"/>
              </a:ext>
            </a:extLst>
          </p:cNvPr>
          <p:cNvSpPr txBox="1"/>
          <p:nvPr/>
        </p:nvSpPr>
        <p:spPr>
          <a:xfrm>
            <a:off x="660400" y="71374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外壳防护等级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8BC87CAE-D9C3-8B49-92D4-53AF834DD0FE}"/>
              </a:ext>
            </a:extLst>
          </p:cNvPr>
          <p:cNvSpPr txBox="1"/>
          <p:nvPr/>
        </p:nvSpPr>
        <p:spPr>
          <a:xfrm>
            <a:off x="1981200" y="71374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CN" sz="1150">
                <a:solidFill>
                  <a:srgbClr val="34414C"/>
                </a:solidFill>
                <a:latin typeface="Arial"/>
                <a:cs typeface="Arial"/>
              </a:rPr>
              <a:t>IP65</a:t>
            </a:r>
            <a:endParaRPr lang="zh-CN" altLang="en-US" sz="1150">
              <a:solidFill>
                <a:srgbClr val="34414C"/>
              </a:solidFill>
              <a:latin typeface="Arial"/>
              <a:cs typeface="Arial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42526BC5-3E3D-234B-876B-594663B54078}"/>
              </a:ext>
            </a:extLst>
          </p:cNvPr>
          <p:cNvSpPr/>
          <p:nvPr/>
        </p:nvSpPr>
        <p:spPr>
          <a:xfrm>
            <a:off x="3784600" y="7137400"/>
            <a:ext cx="3314700" cy="393700"/>
          </a:xfrm>
          <a:prstGeom prst="rect">
            <a:avLst/>
          </a:prstGeom>
          <a:solidFill>
            <a:srgbClr val="EF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7E770343-2A97-034B-858C-09674ACA3681}"/>
              </a:ext>
            </a:extLst>
          </p:cNvPr>
          <p:cNvSpPr/>
          <p:nvPr/>
        </p:nvSpPr>
        <p:spPr>
          <a:xfrm>
            <a:off x="3784600" y="7137400"/>
            <a:ext cx="76200" cy="3937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4757CC31-D835-0C47-97F1-7497CD60FE5C}"/>
              </a:ext>
            </a:extLst>
          </p:cNvPr>
          <p:cNvSpPr txBox="1"/>
          <p:nvPr/>
        </p:nvSpPr>
        <p:spPr>
          <a:xfrm>
            <a:off x="3987800" y="7137400"/>
            <a:ext cx="1270000" cy="393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150" b="1">
                <a:solidFill>
                  <a:srgbClr val="0D3A5C"/>
                </a:solidFill>
                <a:latin typeface="Arial"/>
                <a:cs typeface="Arial"/>
              </a:rPr>
              <a:t>环境温湿度</a:t>
            </a: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A0C445DE-8F0C-8843-9DAB-729C8D286A80}"/>
              </a:ext>
            </a:extLst>
          </p:cNvPr>
          <p:cNvSpPr txBox="1"/>
          <p:nvPr/>
        </p:nvSpPr>
        <p:spPr>
          <a:xfrm>
            <a:off x="5308600" y="7137400"/>
            <a:ext cx="1689100" cy="3937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zh-CN" sz="1150">
                <a:solidFill>
                  <a:srgbClr val="34414C"/>
                </a:solidFill>
                <a:latin typeface="Arial"/>
                <a:cs typeface="Arial"/>
              </a:rPr>
              <a:t>-10–60°C / 35–85%RH</a:t>
            </a:r>
            <a:endParaRPr lang="zh-CN" altLang="en-US" sz="1150">
              <a:solidFill>
                <a:srgbClr val="34414C"/>
              </a:solidFill>
              <a:latin typeface="Arial"/>
              <a:cs typeface="Arial"/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9D11068B-4458-6F41-A1AB-3F86F39CE2FD}"/>
              </a:ext>
            </a:extLst>
          </p:cNvPr>
          <p:cNvSpPr/>
          <p:nvPr/>
        </p:nvSpPr>
        <p:spPr>
          <a:xfrm>
            <a:off x="457200" y="7696200"/>
            <a:ext cx="6642100" cy="5334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CFC8D264-21A8-184B-858D-DC46820EA647}"/>
              </a:ext>
            </a:extLst>
          </p:cNvPr>
          <p:cNvSpPr/>
          <p:nvPr/>
        </p:nvSpPr>
        <p:spPr>
          <a:xfrm>
            <a:off x="457200" y="7696200"/>
            <a:ext cx="63500" cy="5334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85EE1433-D2CA-3348-A737-83B3138E8BC6}"/>
              </a:ext>
            </a:extLst>
          </p:cNvPr>
          <p:cNvSpPr txBox="1"/>
          <p:nvPr/>
        </p:nvSpPr>
        <p:spPr>
          <a:xfrm>
            <a:off x="685800" y="7696200"/>
            <a:ext cx="62865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200">
                <a:solidFill>
                  <a:srgbClr val="D7E4EF"/>
                </a:solidFill>
                <a:latin typeface="Arial"/>
                <a:cs typeface="Arial"/>
              </a:rPr>
              <a:t>脉冲当量、显示分辨率等更多参数详见产品规格书；具体配置请咨询睿视销售工程师。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3DA983-DF0C-0740-8698-3776DC6472E2}"/>
              </a:ext>
            </a:extLst>
          </p:cNvPr>
          <p:cNvSpPr/>
          <p:nvPr/>
        </p:nvSpPr>
        <p:spPr>
          <a:xfrm>
            <a:off x="6769100" y="10287000"/>
            <a:ext cx="330200" cy="330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CN" sz="1100" b="1">
                <a:solidFill>
                  <a:srgbClr val="FFFFFF"/>
                </a:solidFill>
                <a:latin typeface="Arial"/>
                <a:cs typeface="Arial"/>
              </a:rPr>
              <a:t>06</a:t>
            </a:r>
            <a:endParaRPr lang="zh-CN" altLang="en-US" sz="1100" b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964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0EA5EA9-6367-2446-AAA7-70C3F5A3CA54}"/>
              </a:ext>
            </a:extLst>
          </p:cNvPr>
          <p:cNvSpPr/>
          <p:nvPr/>
        </p:nvSpPr>
        <p:spPr>
          <a:xfrm>
            <a:off x="0" y="0"/>
            <a:ext cx="7556500" cy="9144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2EBDF21-1974-0445-9136-8D9EDF8DF1A2}"/>
              </a:ext>
            </a:extLst>
          </p:cNvPr>
          <p:cNvSpPr/>
          <p:nvPr/>
        </p:nvSpPr>
        <p:spPr>
          <a:xfrm>
            <a:off x="0" y="914400"/>
            <a:ext cx="75565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78F202-AFCE-EF4C-AA91-E0D1692AA92E}"/>
              </a:ext>
            </a:extLst>
          </p:cNvPr>
          <p:cNvSpPr/>
          <p:nvPr/>
        </p:nvSpPr>
        <p:spPr>
          <a:xfrm>
            <a:off x="457200" y="10236200"/>
            <a:ext cx="6642100" cy="12700"/>
          </a:xfrm>
          <a:prstGeom prst="rect">
            <a:avLst/>
          </a:prstGeom>
          <a:solidFill>
            <a:srgbClr val="D7DE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8329B51-A381-8342-B109-E1FD1F515903}"/>
              </a:ext>
            </a:extLst>
          </p:cNvPr>
          <p:cNvSpPr/>
          <p:nvPr/>
        </p:nvSpPr>
        <p:spPr>
          <a:xfrm>
            <a:off x="457200" y="1270000"/>
            <a:ext cx="76200" cy="304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1ADBAAE-A086-CE45-88C2-5550030CC639}"/>
              </a:ext>
            </a:extLst>
          </p:cNvPr>
          <p:cNvSpPr/>
          <p:nvPr/>
        </p:nvSpPr>
        <p:spPr>
          <a:xfrm>
            <a:off x="457200" y="5537200"/>
            <a:ext cx="76200" cy="304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15AE034-A3B8-3A48-ACF5-6EA490F19EBA}"/>
              </a:ext>
            </a:extLst>
          </p:cNvPr>
          <p:cNvSpPr/>
          <p:nvPr/>
        </p:nvSpPr>
        <p:spPr>
          <a:xfrm>
            <a:off x="457200" y="5969000"/>
            <a:ext cx="2159000" cy="863600"/>
          </a:xfrm>
          <a:prstGeom prst="rect">
            <a:avLst/>
          </a:prstGeom>
          <a:solidFill>
            <a:srgbClr val="F4F8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4448D82-E9AC-CF44-A35A-98A0088C9C6A}"/>
              </a:ext>
            </a:extLst>
          </p:cNvPr>
          <p:cNvSpPr/>
          <p:nvPr/>
        </p:nvSpPr>
        <p:spPr>
          <a:xfrm>
            <a:off x="457200" y="5969000"/>
            <a:ext cx="76200" cy="8636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496C359-9AF2-7548-BFC1-A0F3854BEFB2}"/>
              </a:ext>
            </a:extLst>
          </p:cNvPr>
          <p:cNvSpPr/>
          <p:nvPr/>
        </p:nvSpPr>
        <p:spPr>
          <a:xfrm>
            <a:off x="2698750" y="5969000"/>
            <a:ext cx="2159000" cy="863600"/>
          </a:xfrm>
          <a:prstGeom prst="rect">
            <a:avLst/>
          </a:prstGeom>
          <a:solidFill>
            <a:srgbClr val="EF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D77F4BC-63FD-884B-A34B-ECBA4CD95A2B}"/>
              </a:ext>
            </a:extLst>
          </p:cNvPr>
          <p:cNvSpPr/>
          <p:nvPr/>
        </p:nvSpPr>
        <p:spPr>
          <a:xfrm>
            <a:off x="2698750" y="5969000"/>
            <a:ext cx="76200" cy="8636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7B603EB-E95B-084C-9EAD-353112FB29D5}"/>
              </a:ext>
            </a:extLst>
          </p:cNvPr>
          <p:cNvSpPr/>
          <p:nvPr/>
        </p:nvSpPr>
        <p:spPr>
          <a:xfrm>
            <a:off x="4940300" y="5969000"/>
            <a:ext cx="2159000" cy="863600"/>
          </a:xfrm>
          <a:prstGeom prst="rect">
            <a:avLst/>
          </a:prstGeom>
          <a:solidFill>
            <a:srgbClr val="F4F8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94A9BF7-F75A-544F-B2A2-D234E128FF04}"/>
              </a:ext>
            </a:extLst>
          </p:cNvPr>
          <p:cNvSpPr/>
          <p:nvPr/>
        </p:nvSpPr>
        <p:spPr>
          <a:xfrm>
            <a:off x="4940300" y="5969000"/>
            <a:ext cx="76200" cy="8636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DAF9ED3-91B4-4A42-AB72-91F47085617E}"/>
              </a:ext>
            </a:extLst>
          </p:cNvPr>
          <p:cNvSpPr/>
          <p:nvPr/>
        </p:nvSpPr>
        <p:spPr>
          <a:xfrm>
            <a:off x="457200" y="6959600"/>
            <a:ext cx="2159000" cy="863600"/>
          </a:xfrm>
          <a:prstGeom prst="rect">
            <a:avLst/>
          </a:prstGeom>
          <a:solidFill>
            <a:srgbClr val="EF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7A5EE69-0DD2-A848-8D16-B264C43400C3}"/>
              </a:ext>
            </a:extLst>
          </p:cNvPr>
          <p:cNvSpPr/>
          <p:nvPr/>
        </p:nvSpPr>
        <p:spPr>
          <a:xfrm>
            <a:off x="457200" y="6959600"/>
            <a:ext cx="76200" cy="8636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8C65C47-5C73-F344-B551-CC98D4098EDF}"/>
              </a:ext>
            </a:extLst>
          </p:cNvPr>
          <p:cNvSpPr/>
          <p:nvPr/>
        </p:nvSpPr>
        <p:spPr>
          <a:xfrm>
            <a:off x="2698750" y="6959600"/>
            <a:ext cx="2159000" cy="863600"/>
          </a:xfrm>
          <a:prstGeom prst="rect">
            <a:avLst/>
          </a:prstGeom>
          <a:solidFill>
            <a:srgbClr val="F4F8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40DD80A-4301-7342-AB26-72ECD69A2ECF}"/>
              </a:ext>
            </a:extLst>
          </p:cNvPr>
          <p:cNvSpPr/>
          <p:nvPr/>
        </p:nvSpPr>
        <p:spPr>
          <a:xfrm>
            <a:off x="2698750" y="6959600"/>
            <a:ext cx="76200" cy="8636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37E935B-208B-B74E-B065-5FF2F1A510CB}"/>
              </a:ext>
            </a:extLst>
          </p:cNvPr>
          <p:cNvSpPr/>
          <p:nvPr/>
        </p:nvSpPr>
        <p:spPr>
          <a:xfrm>
            <a:off x="4940300" y="6959600"/>
            <a:ext cx="2159000" cy="863600"/>
          </a:xfrm>
          <a:prstGeom prst="rect">
            <a:avLst/>
          </a:prstGeom>
          <a:solidFill>
            <a:srgbClr val="EFF5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FE55F3C-DB78-FE45-ADE2-CA324ACDDC45}"/>
              </a:ext>
            </a:extLst>
          </p:cNvPr>
          <p:cNvSpPr/>
          <p:nvPr/>
        </p:nvSpPr>
        <p:spPr>
          <a:xfrm>
            <a:off x="4940300" y="6959600"/>
            <a:ext cx="76200" cy="8636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F9B130E-AF13-D741-82BB-82F92CF8F2BC}"/>
              </a:ext>
            </a:extLst>
          </p:cNvPr>
          <p:cNvSpPr/>
          <p:nvPr/>
        </p:nvSpPr>
        <p:spPr>
          <a:xfrm>
            <a:off x="457200" y="8966200"/>
            <a:ext cx="6642100" cy="8128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3CE11F7-81C7-6E49-A65C-883B774E3F09}"/>
              </a:ext>
            </a:extLst>
          </p:cNvPr>
          <p:cNvSpPr/>
          <p:nvPr/>
        </p:nvSpPr>
        <p:spPr>
          <a:xfrm>
            <a:off x="457200" y="8966200"/>
            <a:ext cx="76200" cy="812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7227E79-316B-FE49-8711-EA80F61DF89B}"/>
              </a:ext>
            </a:extLst>
          </p:cNvPr>
          <p:cNvSpPr txBox="1"/>
          <p:nvPr/>
        </p:nvSpPr>
        <p:spPr>
          <a:xfrm>
            <a:off x="457200" y="0"/>
            <a:ext cx="5334000" cy="914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CN" altLang="en-US" sz="2800" b="1">
                <a:solidFill>
                  <a:srgbClr val="FFFFFF"/>
                </a:solidFill>
                <a:latin typeface="Arial"/>
                <a:cs typeface="Arial"/>
              </a:rPr>
              <a:t>外形尺寸与接口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6BA1B55-185B-CF4F-B71C-D9535FD727E7}"/>
              </a:ext>
            </a:extLst>
          </p:cNvPr>
          <p:cNvSpPr txBox="1"/>
          <p:nvPr/>
        </p:nvSpPr>
        <p:spPr>
          <a:xfrm>
            <a:off x="457200" y="10312400"/>
            <a:ext cx="508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000">
                <a:solidFill>
                  <a:srgbClr val="98A4AE"/>
                </a:solidFill>
                <a:latin typeface="Arial"/>
                <a:cs typeface="Arial"/>
              </a:rPr>
              <a:t>Rvision RUF-100  </a:t>
            </a:r>
            <a:r>
              <a:rPr lang="zh-CN" altLang="en-US" sz="1000">
                <a:solidFill>
                  <a:srgbClr val="98A4AE"/>
                </a:solidFill>
                <a:latin typeface="Arial"/>
                <a:cs typeface="Arial"/>
              </a:rPr>
              <a:t>外夹式超声波流量计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3BB8362-F2CB-304C-B60D-3610ECCAE262}"/>
              </a:ext>
            </a:extLst>
          </p:cNvPr>
          <p:cNvSpPr txBox="1"/>
          <p:nvPr/>
        </p:nvSpPr>
        <p:spPr>
          <a:xfrm>
            <a:off x="660400" y="1257300"/>
            <a:ext cx="38100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CN" altLang="en-US" b="1">
                <a:solidFill>
                  <a:srgbClr val="18232F"/>
                </a:solidFill>
                <a:latin typeface="Arial"/>
                <a:cs typeface="Arial"/>
              </a:rPr>
              <a:t>产品结构与接口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0B7BD37-CD83-1949-925C-99FA81EBB36D}"/>
              </a:ext>
            </a:extLst>
          </p:cNvPr>
          <p:cNvSpPr txBox="1"/>
          <p:nvPr/>
        </p:nvSpPr>
        <p:spPr>
          <a:xfrm>
            <a:off x="457200" y="1651000"/>
            <a:ext cx="66421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主要结构、接口位置与外形尺寸信息，便于安装空间确认与结构对接。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080276D-EA56-0548-9F22-082255E9D4D0}"/>
              </a:ext>
            </a:extLst>
          </p:cNvPr>
          <p:cNvSpPr txBox="1"/>
          <p:nvPr/>
        </p:nvSpPr>
        <p:spPr>
          <a:xfrm>
            <a:off x="660400" y="4470400"/>
            <a:ext cx="2819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0D3A5C"/>
                </a:solidFill>
                <a:latin typeface="Arial"/>
                <a:cs typeface="Arial"/>
              </a:rPr>
              <a:t>屏幕与按键区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AA833D5-C5CB-CB4E-8E11-1F7CF715EB08}"/>
              </a:ext>
            </a:extLst>
          </p:cNvPr>
          <p:cNvSpPr txBox="1"/>
          <p:nvPr/>
        </p:nvSpPr>
        <p:spPr>
          <a:xfrm>
            <a:off x="660400" y="4775200"/>
            <a:ext cx="28194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CN" sz="1100">
                <a:solidFill>
                  <a:srgbClr val="44525E"/>
                </a:solidFill>
                <a:latin typeface="Arial"/>
                <a:cs typeface="Arial"/>
              </a:rPr>
              <a:t>OLED </a:t>
            </a:r>
            <a:r>
              <a:rPr lang="zh-CN" altLang="en-US" sz="1100">
                <a:solidFill>
                  <a:srgbClr val="44525E"/>
                </a:solidFill>
                <a:latin typeface="Arial"/>
                <a:cs typeface="Arial"/>
              </a:rPr>
              <a:t>显示屏与操作按键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7CB4D91-E62D-C347-BC2C-9D6AE0370695}"/>
              </a:ext>
            </a:extLst>
          </p:cNvPr>
          <p:cNvSpPr txBox="1"/>
          <p:nvPr/>
        </p:nvSpPr>
        <p:spPr>
          <a:xfrm>
            <a:off x="4076700" y="4470400"/>
            <a:ext cx="28194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0D3A5C"/>
                </a:solidFill>
                <a:latin typeface="Arial"/>
                <a:cs typeface="Arial"/>
              </a:rPr>
              <a:t>航空插头与固定螺丝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D84F600-7019-E644-ACC4-D605C8C25B94}"/>
              </a:ext>
            </a:extLst>
          </p:cNvPr>
          <p:cNvSpPr txBox="1"/>
          <p:nvPr/>
        </p:nvSpPr>
        <p:spPr>
          <a:xfrm>
            <a:off x="4076700" y="4775200"/>
            <a:ext cx="28194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zh-CN" sz="1100">
                <a:solidFill>
                  <a:srgbClr val="44525E"/>
                </a:solidFill>
                <a:latin typeface="Arial"/>
                <a:cs typeface="Arial"/>
              </a:rPr>
              <a:t>M12 </a:t>
            </a:r>
            <a:r>
              <a:rPr lang="zh-CN" altLang="en-US" sz="1100">
                <a:solidFill>
                  <a:srgbClr val="44525E"/>
                </a:solidFill>
                <a:latin typeface="Arial"/>
                <a:cs typeface="Arial"/>
              </a:rPr>
              <a:t>航空接头 </a:t>
            </a:r>
            <a:r>
              <a:rPr lang="en-US" altLang="zh-CN" sz="1100">
                <a:solidFill>
                  <a:srgbClr val="44525E"/>
                </a:solidFill>
                <a:latin typeface="Arial"/>
                <a:cs typeface="Arial"/>
              </a:rPr>
              <a:t>· </a:t>
            </a:r>
            <a:r>
              <a:rPr lang="zh-CN" altLang="en-US" sz="1100">
                <a:solidFill>
                  <a:srgbClr val="44525E"/>
                </a:solidFill>
                <a:latin typeface="Arial"/>
                <a:cs typeface="Arial"/>
              </a:rPr>
              <a:t>双螺丝固定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ACCD0C1-A82C-CF49-AE7D-DA6B1A42BC47}"/>
              </a:ext>
            </a:extLst>
          </p:cNvPr>
          <p:cNvSpPr txBox="1"/>
          <p:nvPr/>
        </p:nvSpPr>
        <p:spPr>
          <a:xfrm>
            <a:off x="660400" y="5524500"/>
            <a:ext cx="38100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CN" altLang="en-US" b="1">
                <a:solidFill>
                  <a:srgbClr val="18232F"/>
                </a:solidFill>
                <a:latin typeface="Arial"/>
                <a:cs typeface="Arial"/>
              </a:rPr>
              <a:t>接口与尺寸参数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B73C7DF9-38E2-FF49-BC26-C819FFF4070B}"/>
              </a:ext>
            </a:extLst>
          </p:cNvPr>
          <p:cNvSpPr txBox="1"/>
          <p:nvPr/>
        </p:nvSpPr>
        <p:spPr>
          <a:xfrm>
            <a:off x="685800" y="6121400"/>
            <a:ext cx="182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0D3A5C"/>
                </a:solidFill>
                <a:latin typeface="Arial"/>
                <a:cs typeface="Arial"/>
              </a:rPr>
              <a:t>产品组成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9E6083BD-8859-C440-9CCF-A5B62137CC12}"/>
              </a:ext>
            </a:extLst>
          </p:cNvPr>
          <p:cNvSpPr txBox="1"/>
          <p:nvPr/>
        </p:nvSpPr>
        <p:spPr>
          <a:xfrm>
            <a:off x="685800" y="6375400"/>
            <a:ext cx="182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主机 </a:t>
            </a:r>
            <a:r>
              <a:rPr lang="en-US" altLang="zh-CN" sz="1100">
                <a:solidFill>
                  <a:srgbClr val="34414C"/>
                </a:solidFill>
                <a:latin typeface="Arial"/>
                <a:cs typeface="Arial"/>
              </a:rPr>
              <a:t>· </a:t>
            </a:r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夹持机构 </a:t>
            </a:r>
            <a:r>
              <a:rPr lang="en-US" altLang="zh-CN" sz="1100">
                <a:solidFill>
                  <a:srgbClr val="34414C"/>
                </a:solidFill>
                <a:latin typeface="Arial"/>
                <a:cs typeface="Arial"/>
              </a:rPr>
              <a:t>· </a:t>
            </a:r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电缆 </a:t>
            </a:r>
            <a:r>
              <a:rPr lang="en-US" altLang="zh-CN" sz="1100">
                <a:solidFill>
                  <a:srgbClr val="34414C"/>
                </a:solidFill>
                <a:latin typeface="Arial"/>
                <a:cs typeface="Arial"/>
              </a:rPr>
              <a:t>· </a:t>
            </a:r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说明书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E096F12-BF6B-4943-94F8-32FCDBD714F9}"/>
              </a:ext>
            </a:extLst>
          </p:cNvPr>
          <p:cNvSpPr txBox="1"/>
          <p:nvPr/>
        </p:nvSpPr>
        <p:spPr>
          <a:xfrm>
            <a:off x="2927350" y="6121400"/>
            <a:ext cx="182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0D3A5C"/>
                </a:solidFill>
                <a:latin typeface="Arial"/>
                <a:cs typeface="Arial"/>
              </a:rPr>
              <a:t>电气接口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57E4B19-FF75-B546-8933-83C0D7E35EAF}"/>
              </a:ext>
            </a:extLst>
          </p:cNvPr>
          <p:cNvSpPr txBox="1"/>
          <p:nvPr/>
        </p:nvSpPr>
        <p:spPr>
          <a:xfrm>
            <a:off x="2927350" y="6375400"/>
            <a:ext cx="182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100">
                <a:solidFill>
                  <a:srgbClr val="34414C"/>
                </a:solidFill>
                <a:latin typeface="Arial"/>
                <a:cs typeface="Arial"/>
              </a:rPr>
              <a:t>M12 </a:t>
            </a:r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航空插头（</a:t>
            </a:r>
            <a:r>
              <a:rPr lang="en-US" altLang="zh-CN" sz="1100">
                <a:solidFill>
                  <a:srgbClr val="34414C"/>
                </a:solidFill>
                <a:latin typeface="Arial"/>
                <a:cs typeface="Arial"/>
              </a:rPr>
              <a:t>NPN/PNP · 4-20mA</a:t>
            </a:r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）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9E2480C-58D3-6E43-9AA8-AE9B4D39B23A}"/>
              </a:ext>
            </a:extLst>
          </p:cNvPr>
          <p:cNvSpPr txBox="1"/>
          <p:nvPr/>
        </p:nvSpPr>
        <p:spPr>
          <a:xfrm>
            <a:off x="5168900" y="6121400"/>
            <a:ext cx="182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0D3A5C"/>
                </a:solidFill>
                <a:latin typeface="Arial"/>
                <a:cs typeface="Arial"/>
              </a:rPr>
              <a:t>通讯接口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FE2CD52-8A8D-8241-B919-4F44122943C4}"/>
              </a:ext>
            </a:extLst>
          </p:cNvPr>
          <p:cNvSpPr txBox="1"/>
          <p:nvPr/>
        </p:nvSpPr>
        <p:spPr>
          <a:xfrm>
            <a:off x="5168900" y="6375400"/>
            <a:ext cx="182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100">
                <a:solidFill>
                  <a:srgbClr val="34414C"/>
                </a:solidFill>
                <a:latin typeface="Arial"/>
                <a:cs typeface="Arial"/>
              </a:rPr>
              <a:t>MODBUS </a:t>
            </a:r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通讯协议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97FE82C-F393-2449-AF15-5F92948E9E40}"/>
              </a:ext>
            </a:extLst>
          </p:cNvPr>
          <p:cNvSpPr txBox="1"/>
          <p:nvPr/>
        </p:nvSpPr>
        <p:spPr>
          <a:xfrm>
            <a:off x="685800" y="7112000"/>
            <a:ext cx="182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0D3A5C"/>
                </a:solidFill>
                <a:latin typeface="Arial"/>
                <a:cs typeface="Arial"/>
              </a:rPr>
              <a:t>显示屏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0E73067-3C12-BF44-BEF6-C094B5FE9B6F}"/>
              </a:ext>
            </a:extLst>
          </p:cNvPr>
          <p:cNvSpPr txBox="1"/>
          <p:nvPr/>
        </p:nvSpPr>
        <p:spPr>
          <a:xfrm>
            <a:off x="685800" y="7366000"/>
            <a:ext cx="182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100">
                <a:solidFill>
                  <a:srgbClr val="34414C"/>
                </a:solidFill>
                <a:latin typeface="Arial"/>
                <a:cs typeface="Arial"/>
              </a:rPr>
              <a:t>OLED 128×64 </a:t>
            </a:r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点阵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DBDAD06C-C574-754E-B947-0F062DE6D50A}"/>
              </a:ext>
            </a:extLst>
          </p:cNvPr>
          <p:cNvSpPr txBox="1"/>
          <p:nvPr/>
        </p:nvSpPr>
        <p:spPr>
          <a:xfrm>
            <a:off x="2927350" y="7112000"/>
            <a:ext cx="182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0D3A5C"/>
                </a:solidFill>
                <a:latin typeface="Arial"/>
                <a:cs typeface="Arial"/>
              </a:rPr>
              <a:t>防护等级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5487AA03-BE3C-124E-8A33-0C118644671F}"/>
              </a:ext>
            </a:extLst>
          </p:cNvPr>
          <p:cNvSpPr txBox="1"/>
          <p:nvPr/>
        </p:nvSpPr>
        <p:spPr>
          <a:xfrm>
            <a:off x="2927350" y="7366000"/>
            <a:ext cx="182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100">
                <a:solidFill>
                  <a:srgbClr val="34414C"/>
                </a:solidFill>
                <a:latin typeface="Arial"/>
                <a:cs typeface="Arial"/>
              </a:rPr>
              <a:t>IP65 </a:t>
            </a:r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工业级防护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DF0366E-2C2B-AC4E-B9B6-4E98BE0C2F5F}"/>
              </a:ext>
            </a:extLst>
          </p:cNvPr>
          <p:cNvSpPr txBox="1"/>
          <p:nvPr/>
        </p:nvSpPr>
        <p:spPr>
          <a:xfrm>
            <a:off x="5168900" y="7112000"/>
            <a:ext cx="1828800" cy="203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0D3A5C"/>
                </a:solidFill>
                <a:latin typeface="Arial"/>
                <a:cs typeface="Arial"/>
              </a:rPr>
              <a:t>适配管径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EE013DF-8A20-B24F-9938-372CCFA05606}"/>
              </a:ext>
            </a:extLst>
          </p:cNvPr>
          <p:cNvSpPr txBox="1"/>
          <p:nvPr/>
        </p:nvSpPr>
        <p:spPr>
          <a:xfrm>
            <a:off x="5168900" y="7366000"/>
            <a:ext cx="1828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l-GR" altLang="zh-CN" sz="1100">
                <a:solidFill>
                  <a:srgbClr val="34414C"/>
                </a:solidFill>
                <a:latin typeface="Arial"/>
                <a:cs typeface="Arial"/>
              </a:rPr>
              <a:t>Φ10 – Φ65 </a:t>
            </a:r>
            <a:r>
              <a:rPr lang="en-US" altLang="zh-CN" sz="1100">
                <a:solidFill>
                  <a:srgbClr val="34414C"/>
                </a:solidFill>
                <a:latin typeface="Arial"/>
                <a:cs typeface="Arial"/>
              </a:rPr>
              <a:t>mm</a:t>
            </a:r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（</a:t>
            </a:r>
            <a:r>
              <a:rPr lang="en-US" altLang="zh-CN" sz="1100">
                <a:solidFill>
                  <a:srgbClr val="34414C"/>
                </a:solidFill>
                <a:latin typeface="Arial"/>
                <a:cs typeface="Arial"/>
              </a:rPr>
              <a:t>DN8–DN50</a:t>
            </a:r>
            <a:r>
              <a:rPr lang="zh-CN" altLang="en-US" sz="1100">
                <a:solidFill>
                  <a:srgbClr val="34414C"/>
                </a:solidFill>
                <a:latin typeface="Arial"/>
                <a:cs typeface="Arial"/>
              </a:rPr>
              <a:t>）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570072C-D23A-F843-A7F9-D2FC809C17C1}"/>
              </a:ext>
            </a:extLst>
          </p:cNvPr>
          <p:cNvSpPr txBox="1"/>
          <p:nvPr/>
        </p:nvSpPr>
        <p:spPr>
          <a:xfrm>
            <a:off x="762000" y="8966200"/>
            <a:ext cx="6096000" cy="812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zh-CN" altLang="en-US" sz="1300">
                <a:solidFill>
                  <a:srgbClr val="FFFFFF"/>
                </a:solidFill>
                <a:latin typeface="Arial"/>
                <a:cs typeface="Arial"/>
              </a:rPr>
              <a:t>完整外形尺寸图与各型号机械参数详见产品规格书。</a:t>
            </a:r>
          </a:p>
        </p:txBody>
      </p:sp>
      <p:pic>
        <p:nvPicPr>
          <p:cNvPr id="89" name="Image 0" descr="/Users/jasber/Downloads/夹钳式超声波流量计/outputs/shot-explorer/ruishi-ruf100-cover-industrial/01-front-cover-industrial-cold-light.png">
            <a:extLst>
              <a:ext uri="{FF2B5EF4-FFF2-40B4-BE49-F238E27FC236}">
                <a16:creationId xmlns:a16="http://schemas.microsoft.com/office/drawing/2014/main" id="{F6D30D4E-8AC2-9422-5FB7-FB31F4D7E0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255" t="53200" r="33251" b="30041"/>
          <a:stretch>
            <a:fillRect/>
          </a:stretch>
        </p:blipFill>
        <p:spPr>
          <a:xfrm>
            <a:off x="4076700" y="2327610"/>
            <a:ext cx="2898157" cy="1990390"/>
          </a:xfrm>
          <a:prstGeom prst="rect">
            <a:avLst/>
          </a:prstGeom>
        </p:spPr>
      </p:pic>
      <p:pic>
        <p:nvPicPr>
          <p:cNvPr id="90" name="Image 0" descr="/Users/jasber/Downloads/夹钳式超声波流量计/outputs/shot-explorer/ruishi-ruf100-cover-industrial/01-front-cover-industrial-cold-light.png">
            <a:extLst>
              <a:ext uri="{FF2B5EF4-FFF2-40B4-BE49-F238E27FC236}">
                <a16:creationId xmlns:a16="http://schemas.microsoft.com/office/drawing/2014/main" id="{ABCA0AC3-4768-84CF-4185-350E7FDC00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52" t="20765" r="32786" b="50527"/>
          <a:stretch>
            <a:fillRect/>
          </a:stretch>
        </p:blipFill>
        <p:spPr>
          <a:xfrm>
            <a:off x="762000" y="2044700"/>
            <a:ext cx="2074779" cy="2450432"/>
          </a:xfrm>
          <a:prstGeom prst="rect">
            <a:avLst/>
          </a:prstGeom>
        </p:spPr>
      </p:pic>
      <p:sp>
        <p:nvSpPr>
          <p:cNvPr id="91" name="矩形 90">
            <a:extLst>
              <a:ext uri="{FF2B5EF4-FFF2-40B4-BE49-F238E27FC236}">
                <a16:creationId xmlns:a16="http://schemas.microsoft.com/office/drawing/2014/main" id="{5AB7C652-8260-934C-A1E7-F8FA9E5E2BF8}"/>
              </a:ext>
            </a:extLst>
          </p:cNvPr>
          <p:cNvSpPr/>
          <p:nvPr/>
        </p:nvSpPr>
        <p:spPr>
          <a:xfrm>
            <a:off x="6769100" y="10287000"/>
            <a:ext cx="330200" cy="330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CN" sz="1100" b="1">
                <a:solidFill>
                  <a:srgbClr val="FFFFFF"/>
                </a:solidFill>
                <a:latin typeface="Arial"/>
                <a:cs typeface="Arial"/>
              </a:rPr>
              <a:t>07</a:t>
            </a:r>
            <a:endParaRPr lang="zh-CN" altLang="en-US" sz="1100" b="1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2C6429A-4E50-7742-AA68-F2494DCD1D1E}"/>
              </a:ext>
            </a:extLst>
          </p:cNvPr>
          <p:cNvSpPr/>
          <p:nvPr/>
        </p:nvSpPr>
        <p:spPr>
          <a:xfrm>
            <a:off x="0" y="0"/>
            <a:ext cx="7556500" cy="38100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497084-FD02-C04E-A23F-4019EE9428CB}"/>
              </a:ext>
            </a:extLst>
          </p:cNvPr>
          <p:cNvSpPr/>
          <p:nvPr/>
        </p:nvSpPr>
        <p:spPr>
          <a:xfrm>
            <a:off x="0" y="3810000"/>
            <a:ext cx="7556500" cy="762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210700-95AE-8140-92E5-54CF7DDF9EC9}"/>
              </a:ext>
            </a:extLst>
          </p:cNvPr>
          <p:cNvSpPr txBox="1"/>
          <p:nvPr/>
        </p:nvSpPr>
        <p:spPr>
          <a:xfrm>
            <a:off x="457200" y="5080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500" b="1">
                <a:solidFill>
                  <a:srgbClr val="FFFFFF"/>
                </a:solidFill>
                <a:latin typeface="Arial"/>
                <a:cs typeface="Arial"/>
              </a:rPr>
              <a:t>睿视  </a:t>
            </a:r>
            <a:r>
              <a:rPr lang="en-US" altLang="zh-CN" sz="1500" b="1">
                <a:solidFill>
                  <a:srgbClr val="FFFFFF"/>
                </a:solidFill>
                <a:latin typeface="Arial"/>
                <a:cs typeface="Arial"/>
              </a:rPr>
              <a:t>Rvision</a:t>
            </a:r>
            <a:endParaRPr lang="zh-CN" altLang="en-US" sz="15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FBF3E5-F756-CA4B-AD46-33D81EB5882C}"/>
              </a:ext>
            </a:extLst>
          </p:cNvPr>
          <p:cNvSpPr txBox="1"/>
          <p:nvPr/>
        </p:nvSpPr>
        <p:spPr>
          <a:xfrm>
            <a:off x="457200" y="1244600"/>
            <a:ext cx="6350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>
                <a:solidFill>
                  <a:srgbClr val="9FC3DE"/>
                </a:solidFill>
                <a:latin typeface="Arial"/>
                <a:cs typeface="Arial"/>
              </a:rPr>
              <a:t>外夹式超声波流量计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C8600B1-572F-304D-93C0-6282292A33D7}"/>
              </a:ext>
            </a:extLst>
          </p:cNvPr>
          <p:cNvSpPr txBox="1"/>
          <p:nvPr/>
        </p:nvSpPr>
        <p:spPr>
          <a:xfrm>
            <a:off x="457200" y="1600200"/>
            <a:ext cx="6350000" cy="10160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pPr algn="l"/>
            <a:r>
              <a:rPr lang="en-US" altLang="zh-CN" sz="6000" b="1">
                <a:solidFill>
                  <a:srgbClr val="FFFFFF"/>
                </a:solidFill>
                <a:latin typeface="Arial"/>
                <a:cs typeface="Arial"/>
              </a:rPr>
              <a:t>RUF-100</a:t>
            </a:r>
            <a:endParaRPr lang="zh-CN" altLang="en-US" sz="60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B420B36-43D7-C041-8B74-A61EA4C17B1C}"/>
              </a:ext>
            </a:extLst>
          </p:cNvPr>
          <p:cNvSpPr/>
          <p:nvPr/>
        </p:nvSpPr>
        <p:spPr>
          <a:xfrm>
            <a:off x="457200" y="2743200"/>
            <a:ext cx="3810000" cy="5080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348361C-1B2A-724C-AF5A-A5540D00D6D6}"/>
              </a:ext>
            </a:extLst>
          </p:cNvPr>
          <p:cNvSpPr txBox="1"/>
          <p:nvPr/>
        </p:nvSpPr>
        <p:spPr>
          <a:xfrm>
            <a:off x="457200" y="27432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700" b="1">
                <a:solidFill>
                  <a:srgbClr val="FFFFFF"/>
                </a:solidFill>
                <a:latin typeface="Arial"/>
                <a:cs typeface="Arial"/>
              </a:rPr>
              <a:t>无需切管 </a:t>
            </a:r>
            <a:r>
              <a:rPr lang="en-US" altLang="zh-CN" sz="1700" b="1">
                <a:solidFill>
                  <a:srgbClr val="FFFFFF"/>
                </a:solidFill>
                <a:latin typeface="Arial"/>
                <a:cs typeface="Arial"/>
              </a:rPr>
              <a:t>· </a:t>
            </a:r>
            <a:r>
              <a:rPr lang="zh-CN" altLang="en-US" sz="1700" b="1">
                <a:solidFill>
                  <a:srgbClr val="FFFFFF"/>
                </a:solidFill>
                <a:latin typeface="Arial"/>
                <a:cs typeface="Arial"/>
              </a:rPr>
              <a:t>即装即测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5615449-4F4E-DA47-BF9E-F5CA66A2822E}"/>
              </a:ext>
            </a:extLst>
          </p:cNvPr>
          <p:cNvSpPr txBox="1"/>
          <p:nvPr/>
        </p:nvSpPr>
        <p:spPr>
          <a:xfrm>
            <a:off x="457200" y="4318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b="1">
                <a:solidFill>
                  <a:srgbClr val="18232F"/>
                </a:solidFill>
                <a:latin typeface="Arial"/>
                <a:cs typeface="Arial"/>
              </a:rPr>
              <a:t>核心优势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9D545B2-E1E1-564D-88B7-B15C1FC6B006}"/>
              </a:ext>
            </a:extLst>
          </p:cNvPr>
          <p:cNvSpPr/>
          <p:nvPr/>
        </p:nvSpPr>
        <p:spPr>
          <a:xfrm>
            <a:off x="457200" y="4648200"/>
            <a:ext cx="6096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E23BE04-0C91-9541-BDBF-D6722F558852}"/>
              </a:ext>
            </a:extLst>
          </p:cNvPr>
          <p:cNvSpPr/>
          <p:nvPr/>
        </p:nvSpPr>
        <p:spPr>
          <a:xfrm>
            <a:off x="457200" y="4927600"/>
            <a:ext cx="6642100" cy="7874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086793E-64FC-E242-B4AE-BF1638080F79}"/>
              </a:ext>
            </a:extLst>
          </p:cNvPr>
          <p:cNvSpPr/>
          <p:nvPr/>
        </p:nvSpPr>
        <p:spPr>
          <a:xfrm>
            <a:off x="457200" y="4927600"/>
            <a:ext cx="76200" cy="7874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989071A-7907-B940-971D-4207AAC2AB2D}"/>
              </a:ext>
            </a:extLst>
          </p:cNvPr>
          <p:cNvSpPr txBox="1"/>
          <p:nvPr/>
        </p:nvSpPr>
        <p:spPr>
          <a:xfrm>
            <a:off x="762000" y="5080000"/>
            <a:ext cx="203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500" b="1">
                <a:solidFill>
                  <a:srgbClr val="0D3A5C"/>
                </a:solidFill>
                <a:latin typeface="Arial"/>
                <a:cs typeface="Arial"/>
              </a:rPr>
              <a:t>快速安装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5386F9F-1DE8-2545-9879-24F0A2FF7928}"/>
              </a:ext>
            </a:extLst>
          </p:cNvPr>
          <p:cNvSpPr txBox="1"/>
          <p:nvPr/>
        </p:nvSpPr>
        <p:spPr>
          <a:xfrm>
            <a:off x="762000" y="5346700"/>
            <a:ext cx="6096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250">
                <a:solidFill>
                  <a:srgbClr val="44525E"/>
                </a:solidFill>
                <a:latin typeface="Arial"/>
                <a:cs typeface="Arial"/>
              </a:rPr>
              <a:t>外夹式安装，仅需一支螺丝刀，无需切管停机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BBABBC9-713F-4643-94B4-2CE7105E6D6C}"/>
              </a:ext>
            </a:extLst>
          </p:cNvPr>
          <p:cNvSpPr/>
          <p:nvPr/>
        </p:nvSpPr>
        <p:spPr>
          <a:xfrm>
            <a:off x="457200" y="5867400"/>
            <a:ext cx="6642100" cy="7874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E0577C8-0B29-CE4D-BB29-27C6B35A674C}"/>
              </a:ext>
            </a:extLst>
          </p:cNvPr>
          <p:cNvSpPr/>
          <p:nvPr/>
        </p:nvSpPr>
        <p:spPr>
          <a:xfrm>
            <a:off x="457200" y="5867400"/>
            <a:ext cx="76200" cy="7874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9027E31-2C30-B644-8C81-09437C8C3CD2}"/>
              </a:ext>
            </a:extLst>
          </p:cNvPr>
          <p:cNvSpPr txBox="1"/>
          <p:nvPr/>
        </p:nvSpPr>
        <p:spPr>
          <a:xfrm>
            <a:off x="762000" y="6019800"/>
            <a:ext cx="203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500" b="1">
                <a:solidFill>
                  <a:srgbClr val="0D3A5C"/>
                </a:solidFill>
                <a:latin typeface="Arial"/>
                <a:cs typeface="Arial"/>
              </a:rPr>
              <a:t>广泛适用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67409FB-F7E3-AC4E-9316-3351BEBC8908}"/>
              </a:ext>
            </a:extLst>
          </p:cNvPr>
          <p:cNvSpPr txBox="1"/>
          <p:nvPr/>
        </p:nvSpPr>
        <p:spPr>
          <a:xfrm>
            <a:off x="762000" y="6286500"/>
            <a:ext cx="6096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300">
                <a:solidFill>
                  <a:srgbClr val="44525E"/>
                </a:solidFill>
                <a:latin typeface="Arial"/>
                <a:cs typeface="Arial"/>
              </a:rPr>
              <a:t>水 </a:t>
            </a:r>
            <a:r>
              <a:rPr lang="en-US" altLang="zh-CN" sz="1300">
                <a:solidFill>
                  <a:srgbClr val="44525E"/>
                </a:solidFill>
                <a:latin typeface="Arial"/>
                <a:cs typeface="Arial"/>
              </a:rPr>
              <a:t>/ </a:t>
            </a:r>
            <a:r>
              <a:rPr lang="zh-CN" altLang="en-US" sz="1300">
                <a:solidFill>
                  <a:srgbClr val="44525E"/>
                </a:solidFill>
                <a:latin typeface="Arial"/>
                <a:cs typeface="Arial"/>
              </a:rPr>
              <a:t>油 </a:t>
            </a:r>
            <a:r>
              <a:rPr lang="en-US" altLang="zh-CN" sz="1300">
                <a:solidFill>
                  <a:srgbClr val="44525E"/>
                </a:solidFill>
                <a:latin typeface="Arial"/>
                <a:cs typeface="Arial"/>
              </a:rPr>
              <a:t>/ </a:t>
            </a:r>
            <a:r>
              <a:rPr lang="zh-CN" altLang="en-US" sz="1300">
                <a:solidFill>
                  <a:srgbClr val="44525E"/>
                </a:solidFill>
                <a:latin typeface="Arial"/>
                <a:cs typeface="Arial"/>
              </a:rPr>
              <a:t>化学液体，金属管与树脂管，适配 </a:t>
            </a:r>
            <a:r>
              <a:rPr lang="en-US" altLang="zh-CN" sz="1300">
                <a:solidFill>
                  <a:srgbClr val="44525E"/>
                </a:solidFill>
                <a:latin typeface="Arial"/>
                <a:cs typeface="Arial"/>
              </a:rPr>
              <a:t>DN8–DN50</a:t>
            </a:r>
            <a:endParaRPr lang="zh-CN" altLang="en-US" sz="1300">
              <a:solidFill>
                <a:srgbClr val="44525E"/>
              </a:solidFill>
              <a:latin typeface="Arial"/>
              <a:cs typeface="Arial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5099951-D5F2-B144-BBA1-25BC5BEB4801}"/>
              </a:ext>
            </a:extLst>
          </p:cNvPr>
          <p:cNvSpPr/>
          <p:nvPr/>
        </p:nvSpPr>
        <p:spPr>
          <a:xfrm>
            <a:off x="457200" y="6807200"/>
            <a:ext cx="6642100" cy="787400"/>
          </a:xfrm>
          <a:prstGeom prst="rect">
            <a:avLst/>
          </a:prstGeom>
          <a:solidFill>
            <a:srgbClr val="EAF2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B932000-A279-224E-9428-E4A6949B0727}"/>
              </a:ext>
            </a:extLst>
          </p:cNvPr>
          <p:cNvSpPr/>
          <p:nvPr/>
        </p:nvSpPr>
        <p:spPr>
          <a:xfrm>
            <a:off x="457200" y="6807200"/>
            <a:ext cx="76200" cy="7874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8744D12-36C9-4F45-B1B4-653CD3F75927}"/>
              </a:ext>
            </a:extLst>
          </p:cNvPr>
          <p:cNvSpPr txBox="1"/>
          <p:nvPr/>
        </p:nvSpPr>
        <p:spPr>
          <a:xfrm>
            <a:off x="762000" y="6959600"/>
            <a:ext cx="203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500" b="1">
                <a:solidFill>
                  <a:srgbClr val="0D3A5C"/>
                </a:solidFill>
                <a:latin typeface="Arial"/>
                <a:cs typeface="Arial"/>
              </a:rPr>
              <a:t>系统接入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4F55EE7-24BD-A742-92AF-74C0711775F1}"/>
              </a:ext>
            </a:extLst>
          </p:cNvPr>
          <p:cNvSpPr txBox="1"/>
          <p:nvPr/>
        </p:nvSpPr>
        <p:spPr>
          <a:xfrm>
            <a:off x="762000" y="7226300"/>
            <a:ext cx="6096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zh-CN" sz="1300">
                <a:solidFill>
                  <a:srgbClr val="44525E"/>
                </a:solidFill>
                <a:latin typeface="Arial"/>
                <a:cs typeface="Arial"/>
              </a:rPr>
              <a:t>OLED </a:t>
            </a:r>
            <a:r>
              <a:rPr lang="zh-CN" altLang="en-US" sz="1300">
                <a:solidFill>
                  <a:srgbClr val="44525E"/>
                </a:solidFill>
                <a:latin typeface="Arial"/>
                <a:cs typeface="Arial"/>
              </a:rPr>
              <a:t>显示，</a:t>
            </a:r>
            <a:r>
              <a:rPr lang="en-US" altLang="zh-CN" sz="1300">
                <a:solidFill>
                  <a:srgbClr val="44525E"/>
                </a:solidFill>
                <a:latin typeface="Arial"/>
                <a:cs typeface="Arial"/>
              </a:rPr>
              <a:t>NPN/PNP · 4-20mA · </a:t>
            </a:r>
            <a:r>
              <a:rPr lang="zh-CN" altLang="en-US" sz="1300">
                <a:solidFill>
                  <a:srgbClr val="44525E"/>
                </a:solidFill>
                <a:latin typeface="Arial"/>
                <a:cs typeface="Arial"/>
              </a:rPr>
              <a:t>报警 </a:t>
            </a:r>
            <a:r>
              <a:rPr lang="en-US" altLang="zh-CN" sz="1300">
                <a:solidFill>
                  <a:srgbClr val="44525E"/>
                </a:solidFill>
                <a:latin typeface="Arial"/>
                <a:cs typeface="Arial"/>
              </a:rPr>
              <a:t>· MODBUS </a:t>
            </a:r>
            <a:r>
              <a:rPr lang="zh-CN" altLang="en-US" sz="1300">
                <a:solidFill>
                  <a:srgbClr val="44525E"/>
                </a:solidFill>
                <a:latin typeface="Arial"/>
                <a:cs typeface="Arial"/>
              </a:rPr>
              <a:t>通讯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272A0D0-26D7-4043-A518-ED445166A056}"/>
              </a:ext>
            </a:extLst>
          </p:cNvPr>
          <p:cNvSpPr/>
          <p:nvPr/>
        </p:nvSpPr>
        <p:spPr>
          <a:xfrm>
            <a:off x="0" y="7874000"/>
            <a:ext cx="7556500" cy="2806700"/>
          </a:xfrm>
          <a:prstGeom prst="rect">
            <a:avLst/>
          </a:prstGeom>
          <a:solidFill>
            <a:srgbClr val="0D3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02DA9CF-F140-994A-A796-4FD79FEB99A4}"/>
              </a:ext>
            </a:extLst>
          </p:cNvPr>
          <p:cNvSpPr/>
          <p:nvPr/>
        </p:nvSpPr>
        <p:spPr>
          <a:xfrm>
            <a:off x="0" y="7874000"/>
            <a:ext cx="7556500" cy="508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A8A5B3C-E32E-EB48-A1FE-3ABB1B3EE458}"/>
              </a:ext>
            </a:extLst>
          </p:cNvPr>
          <p:cNvSpPr txBox="1"/>
          <p:nvPr/>
        </p:nvSpPr>
        <p:spPr>
          <a:xfrm>
            <a:off x="457200" y="82296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2000" b="1">
                <a:solidFill>
                  <a:srgbClr val="FFFFFF"/>
                </a:solidFill>
                <a:latin typeface="Arial"/>
                <a:cs typeface="Arial"/>
              </a:rPr>
              <a:t>联系我们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95EA62B-543C-E145-87A2-01A879832D50}"/>
              </a:ext>
            </a:extLst>
          </p:cNvPr>
          <p:cNvSpPr/>
          <p:nvPr/>
        </p:nvSpPr>
        <p:spPr>
          <a:xfrm>
            <a:off x="457200" y="8610600"/>
            <a:ext cx="508000" cy="38100"/>
          </a:xfrm>
          <a:prstGeom prst="rect">
            <a:avLst/>
          </a:prstGeom>
          <a:solidFill>
            <a:srgbClr val="1A7AB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335A4FB-6833-2B40-866C-FD79615B0FFA}"/>
              </a:ext>
            </a:extLst>
          </p:cNvPr>
          <p:cNvSpPr txBox="1"/>
          <p:nvPr/>
        </p:nvSpPr>
        <p:spPr>
          <a:xfrm>
            <a:off x="457200" y="8890000"/>
            <a:ext cx="9144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300" b="1">
                <a:solidFill>
                  <a:srgbClr val="9FC3DE"/>
                </a:solidFill>
                <a:latin typeface="Arial"/>
                <a:cs typeface="Arial"/>
              </a:rPr>
              <a:t>公　司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37107FA-DB86-FC46-AF06-B31762BCD7F0}"/>
              </a:ext>
            </a:extLst>
          </p:cNvPr>
          <p:cNvSpPr txBox="1"/>
          <p:nvPr/>
        </p:nvSpPr>
        <p:spPr>
          <a:xfrm>
            <a:off x="1524000" y="88900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300">
                <a:solidFill>
                  <a:srgbClr val="FFFFFF"/>
                </a:solidFill>
                <a:latin typeface="Arial"/>
                <a:cs typeface="Arial"/>
              </a:rPr>
              <a:t>睿视 </a:t>
            </a:r>
            <a:r>
              <a:rPr lang="en-US" altLang="zh-CN" sz="1300">
                <a:solidFill>
                  <a:srgbClr val="FFFFFF"/>
                </a:solidFill>
                <a:latin typeface="Arial"/>
                <a:cs typeface="Arial"/>
              </a:rPr>
              <a:t>Rvision</a:t>
            </a:r>
            <a:endParaRPr lang="zh-CN" altLang="en-US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758A5E2-09FE-3F49-B453-9A30F3CAF78B}"/>
              </a:ext>
            </a:extLst>
          </p:cNvPr>
          <p:cNvSpPr txBox="1"/>
          <p:nvPr/>
        </p:nvSpPr>
        <p:spPr>
          <a:xfrm>
            <a:off x="457200" y="9245600"/>
            <a:ext cx="9144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300" b="1">
                <a:solidFill>
                  <a:srgbClr val="9FC3DE"/>
                </a:solidFill>
                <a:latin typeface="Arial"/>
                <a:cs typeface="Arial"/>
              </a:rPr>
              <a:t>电　话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3746F40-7445-8C46-B72D-91CD652C4FDF}"/>
              </a:ext>
            </a:extLst>
          </p:cNvPr>
          <p:cNvSpPr txBox="1"/>
          <p:nvPr/>
        </p:nvSpPr>
        <p:spPr>
          <a:xfrm>
            <a:off x="1524000" y="92456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zh-CN" sz="1300">
                <a:solidFill>
                  <a:srgbClr val="FFFFFF"/>
                </a:solidFill>
                <a:latin typeface="Arial"/>
                <a:cs typeface="Arial"/>
              </a:rPr>
              <a:t>— — —</a:t>
            </a:r>
            <a:endParaRPr lang="zh-CN" altLang="en-US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AA6A2D9-3E9E-8643-B6B1-B8A99087B5E2}"/>
              </a:ext>
            </a:extLst>
          </p:cNvPr>
          <p:cNvSpPr txBox="1"/>
          <p:nvPr/>
        </p:nvSpPr>
        <p:spPr>
          <a:xfrm>
            <a:off x="457200" y="9601200"/>
            <a:ext cx="9144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300" b="1">
                <a:solidFill>
                  <a:srgbClr val="9FC3DE"/>
                </a:solidFill>
                <a:latin typeface="Arial"/>
                <a:cs typeface="Arial"/>
              </a:rPr>
              <a:t>官　网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2D61C12-BFA8-C84C-956F-FFE91EA902E5}"/>
              </a:ext>
            </a:extLst>
          </p:cNvPr>
          <p:cNvSpPr txBox="1"/>
          <p:nvPr/>
        </p:nvSpPr>
        <p:spPr>
          <a:xfrm>
            <a:off x="1524000" y="96012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zh-CN" sz="1300">
                <a:solidFill>
                  <a:srgbClr val="FFFFFF"/>
                </a:solidFill>
                <a:latin typeface="Arial"/>
                <a:cs typeface="Arial"/>
              </a:rPr>
              <a:t>— — —</a:t>
            </a:r>
            <a:endParaRPr lang="zh-CN" altLang="en-US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B9E3E62-7F0D-5F4F-9CFA-B46E4C14A68D}"/>
              </a:ext>
            </a:extLst>
          </p:cNvPr>
          <p:cNvSpPr txBox="1"/>
          <p:nvPr/>
        </p:nvSpPr>
        <p:spPr>
          <a:xfrm>
            <a:off x="457200" y="9956800"/>
            <a:ext cx="9144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300" b="1">
                <a:solidFill>
                  <a:srgbClr val="9FC3DE"/>
                </a:solidFill>
                <a:latin typeface="Arial"/>
                <a:cs typeface="Arial"/>
              </a:rPr>
              <a:t>邮　箱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C68DAFA-DDDD-4341-8411-F97F6DE41BC8}"/>
              </a:ext>
            </a:extLst>
          </p:cNvPr>
          <p:cNvSpPr txBox="1"/>
          <p:nvPr/>
        </p:nvSpPr>
        <p:spPr>
          <a:xfrm>
            <a:off x="1524000" y="9956800"/>
            <a:ext cx="3302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zh-CN" sz="1300">
                <a:solidFill>
                  <a:srgbClr val="FFFFFF"/>
                </a:solidFill>
                <a:latin typeface="Arial"/>
                <a:cs typeface="Arial"/>
              </a:rPr>
              <a:t>— — —</a:t>
            </a:r>
            <a:endParaRPr lang="zh-CN" altLang="en-US" sz="130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06705C7-8CC3-AD42-BE3D-50B2FB6C5985}"/>
              </a:ext>
            </a:extLst>
          </p:cNvPr>
          <p:cNvSpPr/>
          <p:nvPr/>
        </p:nvSpPr>
        <p:spPr>
          <a:xfrm>
            <a:off x="5613400" y="8813800"/>
            <a:ext cx="1219200" cy="1219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0A4294E-9234-FD47-B5A7-27BC8BC537F2}"/>
              </a:ext>
            </a:extLst>
          </p:cNvPr>
          <p:cNvSpPr txBox="1"/>
          <p:nvPr/>
        </p:nvSpPr>
        <p:spPr>
          <a:xfrm>
            <a:off x="5613400" y="8813800"/>
            <a:ext cx="1219200" cy="1219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zh-CN" altLang="en-US" sz="1200">
                <a:solidFill>
                  <a:srgbClr val="44525E"/>
                </a:solidFill>
                <a:latin typeface="Arial"/>
                <a:cs typeface="Arial"/>
              </a:rPr>
              <a:t>二维码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C3CFF12-6816-D14A-851F-6C87FA651E01}"/>
              </a:ext>
            </a:extLst>
          </p:cNvPr>
          <p:cNvSpPr txBox="1"/>
          <p:nvPr/>
        </p:nvSpPr>
        <p:spPr>
          <a:xfrm>
            <a:off x="5613400" y="10083800"/>
            <a:ext cx="12192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zh-CN" altLang="en-US" sz="1100">
                <a:solidFill>
                  <a:srgbClr val="9FC3DE"/>
                </a:solidFill>
                <a:latin typeface="Arial"/>
                <a:cs typeface="Arial"/>
              </a:rPr>
              <a:t>扫码了解更多</a:t>
            </a:r>
          </a:p>
        </p:txBody>
      </p:sp>
      <p:pic>
        <p:nvPicPr>
          <p:cNvPr id="56" name="Image 0" descr="/Users/jasber/Downloads/夹钳式超声波流量计/outputs/shot-explorer/ruishi-ruf100-cover-industrial/01-front-cover-industrial-cold-light.png">
            <a:extLst>
              <a:ext uri="{FF2B5EF4-FFF2-40B4-BE49-F238E27FC236}">
                <a16:creationId xmlns:a16="http://schemas.microsoft.com/office/drawing/2014/main" id="{60414D93-43D3-1108-CCDF-3D60E1A0C0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804" t="10349" r="25097" b="16107"/>
          <a:stretch>
            <a:fillRect/>
          </a:stretch>
        </p:blipFill>
        <p:spPr>
          <a:xfrm>
            <a:off x="5302753" y="573457"/>
            <a:ext cx="1752265" cy="38679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061ADBB-D364-B740-AD36-14DF171F117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d97948d-26f1-47a3-aa98-7046f80c861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1087</Words>
  <Application>Microsoft Macintosh PowerPoint</Application>
  <PresentationFormat>自定义</PresentationFormat>
  <Paragraphs>228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睿视 Rvision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睿视RUF100产品册_v2_可编辑</dc:title>
  <dc:subject>RUF-100 外夹式超声波流量计</dc:subject>
  <dc:creator>Rvision</dc:creator>
  <cp:lastModifiedBy>璞 杨</cp:lastModifiedBy>
  <cp:revision>4</cp:revision>
  <dcterms:created xsi:type="dcterms:W3CDTF">2026-06-04T14:35:55Z</dcterms:created>
  <dcterms:modified xsi:type="dcterms:W3CDTF">2026-06-06T07:14:39Z</dcterms:modified>
</cp:coreProperties>
</file>